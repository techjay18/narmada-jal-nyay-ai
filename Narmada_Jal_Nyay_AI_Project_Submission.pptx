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9" r:id="rId15"/>
    <p:sldId id="290"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6EC80B-3C73-41A7-AE66-8ADBA2F2956A}" v="210" dt="2026-08-12T16:10:28.512"/>
    <p1510:client id="{499E1CE5-1D7B-4E81-8A69-E34C19ABB716}" v="623" dt="2026-08-12T17:15:30.37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techjay18/Narmada-Jal-Nyay-AI"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8200" y="706797"/>
            <a:ext cx="10515600" cy="2852737"/>
          </a:xfrm>
        </p:spPr>
        <p:txBody>
          <a:bodyPr wrap="square">
            <a:normAutofit/>
          </a:bodyPr>
          <a:lstStyle/>
          <a:p>
            <a:pPr algn="ctr"/>
            <a:r>
              <a:rPr sz="6600" b="1" dirty="0">
                <a:solidFill>
                  <a:srgbClr val="374151"/>
                </a:solidFill>
                <a:latin typeface="Aptos"/>
              </a:rPr>
              <a:t>IBM University Engagement Project Submission</a:t>
            </a: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wrap="square"/>
          <a:lstStyle/>
          <a:p>
            <a:pPr algn="ctr"/>
            <a:r>
              <a:rPr sz="3400" b="0">
                <a:solidFill>
                  <a:srgbClr val="1F5C99"/>
                </a:solidFill>
                <a:latin typeface="Aptos"/>
              </a:rPr>
              <a:t>“Exploring the Power of Agentic AI with IBM Granite and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924126759"/>
              </p:ext>
            </p:extLst>
          </p:nvPr>
        </p:nvGraphicFramePr>
        <p:xfrm>
          <a:off x="939735" y="2093732"/>
          <a:ext cx="9394985" cy="3728087"/>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3">
                  <a:extLst>
                    <a:ext uri="{9D8B030D-6E8A-4147-A177-3AD203B41FA5}">
                      <a16:colId xmlns:a16="http://schemas.microsoft.com/office/drawing/2014/main" val="20002"/>
                    </a:ext>
                  </a:extLst>
                </a:gridCol>
                <a:gridCol w="2745719">
                  <a:extLst>
                    <a:ext uri="{9D8B030D-6E8A-4147-A177-3AD203B41FA5}">
                      <a16:colId xmlns:a16="http://schemas.microsoft.com/office/drawing/2014/main" val="20003"/>
                    </a:ext>
                  </a:extLst>
                </a:gridCol>
                <a:gridCol w="2141026">
                  <a:extLst>
                    <a:ext uri="{9D8B030D-6E8A-4147-A177-3AD203B41FA5}">
                      <a16:colId xmlns:a16="http://schemas.microsoft.com/office/drawing/2014/main" val="20004"/>
                    </a:ext>
                  </a:extLst>
                </a:gridCol>
              </a:tblGrid>
              <a:tr h="1706073">
                <a:tc>
                  <a:txBody>
                    <a:bodyPr/>
                    <a:lstStyle/>
                    <a:p>
                      <a:pPr marL="0" marR="0" lvl="0" indent="0" algn="ctr" rtl="0">
                        <a:spcBef>
                          <a:spcPts val="0"/>
                        </a:spcBef>
                        <a:spcAft>
                          <a:spcPts val="0"/>
                        </a:spcAft>
                        <a:buNone/>
                      </a:pPr>
                      <a:r>
                        <a:rPr lang="en-US" sz="2000" u="none" strike="noStrike" cap="none"/>
                        <a:t>Student Name</a:t>
                      </a:r>
                      <a:endParaRPr sz="20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2000" u="none" strike="noStrike" cap="none"/>
                        <a:t>Recent Passport Photo</a:t>
                      </a:r>
                      <a:endParaRPr sz="20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dirty="0">
                          <a:solidFill>
                            <a:srgbClr val="000000"/>
                          </a:solidFill>
                          <a:latin typeface="Arial"/>
                          <a:ea typeface="Calibri"/>
                          <a:cs typeface="Arial"/>
                          <a:sym typeface="Calibri"/>
                        </a:rPr>
                        <a:t>Email ID </a:t>
                      </a:r>
                      <a:endParaRPr sz="20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a:solidFill>
                            <a:srgbClr val="000000"/>
                          </a:solidFill>
                          <a:latin typeface="Arial"/>
                          <a:ea typeface="Calibri"/>
                          <a:cs typeface="Arial"/>
                          <a:sym typeface="Calibri"/>
                        </a:rPr>
                        <a:t>Mobile number</a:t>
                      </a:r>
                      <a:endParaRPr sz="20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a:solidFill>
                            <a:srgbClr val="000000"/>
                          </a:solidFill>
                          <a:latin typeface="Arial"/>
                          <a:ea typeface="Calibri"/>
                          <a:cs typeface="Arial"/>
                          <a:sym typeface="Calibri"/>
                        </a:rPr>
                        <a:t>[WhatsApp] </a:t>
                      </a:r>
                      <a:endParaRPr sz="20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022014">
                <a:tc>
                  <a:txBody>
                    <a:bodyPr/>
                    <a:lstStyle/>
                    <a:p>
                      <a:pPr marL="0" marR="0" lvl="0" indent="0" algn="ctr" rtl="0">
                        <a:spcBef>
                          <a:spcPts val="0"/>
                        </a:spcBef>
                        <a:spcAft>
                          <a:spcPts val="0"/>
                        </a:spcAft>
                        <a:buNone/>
                      </a:pPr>
                      <a:r>
                        <a:rPr lang="en-US" sz="2000" dirty="0"/>
                        <a:t>Desai Jay</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jaydesai18825@gmail.com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+91 9016156995</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854472" y="604939"/>
            <a:ext cx="10280254" cy="1384995"/>
          </a:xfrm>
          <a:prstGeom prst="rect">
            <a:avLst/>
          </a:prstGeom>
          <a:noFill/>
        </p:spPr>
        <p:txBody>
          <a:bodyPr wrap="square" lIns="91440" tIns="45720" rIns="91440" bIns="45720" rtlCol="0" anchor="t">
            <a:spAutoFit/>
          </a:bodyPr>
          <a:lstStyle/>
          <a:p>
            <a:r>
              <a:rPr sz="2800" b="1">
                <a:solidFill>
                  <a:srgbClr val="374151"/>
                </a:solidFill>
                <a:latin typeface="Aptos"/>
              </a:rPr>
              <a:t>Project Title: Narmada Jal Nyay AI</a:t>
            </a:r>
            <a:br/>
            <a:r>
              <a:rPr sz="2800" b="1">
                <a:solidFill>
                  <a:srgbClr val="374151"/>
                </a:solidFill>
                <a:latin typeface="Aptos"/>
              </a:rPr>
              <a:t>AI-Powered Equitable Canal Water Distribution &amp; Monitoring</a:t>
            </a:r>
            <a:br/>
            <a:r>
              <a:rPr sz="2800" b="1">
                <a:solidFill>
                  <a:srgbClr val="374151"/>
                </a:solidFill>
                <a:latin typeface="Aptos"/>
              </a:rPr>
              <a:t>Domain of project: Water Resource Management</a:t>
            </a:r>
            <a:endParaRPr lang="en-US" sz="2800"/>
          </a:p>
        </p:txBody>
      </p:sp>
      <p:sp>
        <p:nvSpPr>
          <p:cNvPr id="97" name="Rectangle 96"/>
          <p:cNvSpPr/>
          <p:nvPr/>
        </p:nvSpPr>
        <p:spPr>
          <a:xfrm>
            <a:off x="3163824" y="3803904"/>
            <a:ext cx="2048256" cy="2011680"/>
          </a:xfrm>
          <a:prstGeom prst="rect">
            <a:avLst/>
          </a:prstGeom>
          <a:noFill/>
          <a:ln>
            <a:solidFill>
              <a:srgbClr val="9AA5B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400" b="0" dirty="0">
              <a:solidFill>
                <a:srgbClr val="374151"/>
              </a:solidFill>
              <a:latin typeface="Aptos"/>
            </a:endParaRPr>
          </a:p>
        </p:txBody>
      </p:sp>
      <p:pic>
        <p:nvPicPr>
          <p:cNvPr id="5" name="Picture 4">
            <a:extLst>
              <a:ext uri="{FF2B5EF4-FFF2-40B4-BE49-F238E27FC236}">
                <a16:creationId xmlns:a16="http://schemas.microsoft.com/office/drawing/2014/main" id="{6A1ACE2E-C18E-842A-8F14-680A59405CE9}"/>
              </a:ext>
            </a:extLst>
          </p:cNvPr>
          <p:cNvPicPr>
            <a:picLocks noChangeAspect="1"/>
          </p:cNvPicPr>
          <p:nvPr/>
        </p:nvPicPr>
        <p:blipFill>
          <a:blip r:embed="rId3"/>
          <a:stretch>
            <a:fillRect/>
          </a:stretch>
        </p:blipFill>
        <p:spPr>
          <a:xfrm>
            <a:off x="3163824" y="3611418"/>
            <a:ext cx="2203999" cy="23141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736209"/>
            <a:ext cx="10607040" cy="5324535"/>
          </a:xfrm>
          <a:prstGeom prst="rect">
            <a:avLst/>
          </a:prstGeom>
          <a:noFill/>
        </p:spPr>
        <p:txBody>
          <a:bodyPr wrap="square" lIns="91440" tIns="45720" rIns="91440" bIns="45720" rtlCol="0" anchor="t">
            <a:spAutoFit/>
          </a:bodyPr>
          <a:lstStyle/>
          <a:p>
            <a:pPr fontAlgn="base"/>
            <a:r>
              <a:rPr sz="2000" b="0" dirty="0">
                <a:solidFill>
                  <a:srgbClr val="374151"/>
                </a:solidFill>
                <a:latin typeface="Aptos"/>
              </a:rPr>
              <a:t>Problem Statement : Smart Narmada Canal Water Distribution &amp; Equity Monitor</a:t>
            </a:r>
            <a:br>
              <a:rPr sz="2000" dirty="0"/>
            </a:br>
            <a:br>
              <a:rPr sz="2000" dirty="0"/>
            </a:br>
            <a:r>
              <a:rPr sz="2000" b="0" dirty="0">
                <a:solidFill>
                  <a:srgbClr val="374151"/>
                </a:solidFill>
                <a:latin typeface="Aptos"/>
              </a:rPr>
              <a:t>The Challenge:</a:t>
            </a:r>
            <a:br>
              <a:rPr sz="2000" dirty="0"/>
            </a:br>
            <a:r>
              <a:rPr sz="2000" b="0" dirty="0">
                <a:solidFill>
                  <a:srgbClr val="374151"/>
                </a:solidFill>
                <a:latin typeface="Aptos"/>
              </a:rPr>
              <a:t>Unequal and inefficient distribution of Narmada canal water across head-reach and tail-end farmers in Gujarat can lead to disputes, crop stress, and inefficient water usage, especially during peak irrigation seasons.</a:t>
            </a:r>
            <a:br>
              <a:rPr sz="2000" dirty="0"/>
            </a:br>
            <a:br>
              <a:rPr sz="2000" dirty="0"/>
            </a:br>
            <a:r>
              <a:rPr sz="2000" b="0" dirty="0">
                <a:solidFill>
                  <a:srgbClr val="374151"/>
                </a:solidFill>
                <a:latin typeface="Aptos"/>
              </a:rPr>
              <a:t>The Objective:</a:t>
            </a:r>
            <a:br>
              <a:rPr sz="2000" dirty="0"/>
            </a:br>
            <a:r>
              <a:rPr sz="2000" b="0" dirty="0">
                <a:solidFill>
                  <a:srgbClr val="374151"/>
                </a:solidFill>
                <a:latin typeface="Aptos"/>
              </a:rPr>
              <a:t>Develop an Agentic AI-powered water-management platform that monitors canal flow, optimizes equitable distribution schedules, and provides farmers with real-time water availability information. The system will:</a:t>
            </a:r>
            <a:br>
              <a:rPr sz="2000" dirty="0"/>
            </a:br>
            <a:r>
              <a:rPr sz="2000" b="0" dirty="0">
                <a:solidFill>
                  <a:srgbClr val="374151"/>
                </a:solidFill>
                <a:latin typeface="Aptos"/>
              </a:rPr>
              <a:t>• Monitor canal flow, water levels and gate status.</a:t>
            </a:r>
            <a:br>
              <a:rPr sz="2000" dirty="0"/>
            </a:br>
            <a:r>
              <a:rPr sz="2000" b="0" dirty="0">
                <a:solidFill>
                  <a:srgbClr val="374151"/>
                </a:solidFill>
                <a:latin typeface="Aptos"/>
              </a:rPr>
              <a:t>• Detect anomalies and potential shortages.</a:t>
            </a:r>
            <a:br>
              <a:rPr sz="2000" dirty="0"/>
            </a:br>
            <a:r>
              <a:rPr sz="2000" b="0" dirty="0">
                <a:solidFill>
                  <a:srgbClr val="374151"/>
                </a:solidFill>
                <a:latin typeface="Aptos"/>
              </a:rPr>
              <a:t>• Generate fairness-aware irrigation schedules for head, middle and tail reaches.</a:t>
            </a:r>
            <a:br>
              <a:rPr sz="2000" dirty="0"/>
            </a:br>
            <a:r>
              <a:rPr sz="2000" b="0" dirty="0">
                <a:solidFill>
                  <a:srgbClr val="374151"/>
                </a:solidFill>
                <a:latin typeface="Aptos"/>
              </a:rPr>
              <a:t>• Alert farmers about water availability, delays and irrigation slots.</a:t>
            </a:r>
            <a:br>
              <a:rPr sz="2000" dirty="0"/>
            </a:br>
            <a:r>
              <a:rPr sz="2000" b="0" dirty="0">
                <a:solidFill>
                  <a:srgbClr val="374151"/>
                </a:solidFill>
                <a:latin typeface="Aptos"/>
              </a:rPr>
              <a:t>• Detect disputes and recommend transparent, evidence-based resolutions.</a:t>
            </a:r>
            <a:br>
              <a:rPr sz="2000" dirty="0"/>
            </a:br>
            <a:r>
              <a:rPr sz="2000" b="0" dirty="0">
                <a:solidFill>
                  <a:srgbClr val="374151"/>
                </a:solidFill>
                <a:latin typeface="Aptos"/>
              </a:rPr>
              <a:t>• Provide an intelligent dashboard for canal authorities.</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211719"/>
            <a:ext cx="7214616" cy="523220"/>
          </a:xfrm>
          <a:prstGeom prst="rect">
            <a:avLst/>
          </a:prstGeom>
          <a:noFill/>
        </p:spPr>
        <p:txBody>
          <a:bodyPr wrap="square" lIns="91440" tIns="45720" rIns="91440" bIns="45720" rtlCol="0" anchor="t">
            <a:spAutoFit/>
          </a:bodyPr>
          <a:lstStyle/>
          <a:p>
            <a:r>
              <a:rPr sz="2800" b="1">
                <a:solidFill>
                  <a:srgbClr val="374151"/>
                </a:solidFill>
                <a:latin typeface="Aptos"/>
              </a:rPr>
              <a:t>Problem Statement :</a:t>
            </a:r>
            <a:endParaRPr lang="en-IN" sz="28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994117"/>
            <a:ext cx="10607040" cy="4708981"/>
          </a:xfrm>
          <a:prstGeom prst="rect">
            <a:avLst/>
          </a:prstGeom>
          <a:noFill/>
        </p:spPr>
        <p:txBody>
          <a:bodyPr wrap="square" lIns="91440" tIns="45720" rIns="91440" bIns="45720" rtlCol="0" anchor="t">
            <a:spAutoFit/>
          </a:bodyPr>
          <a:lstStyle/>
          <a:p>
            <a:pPr fontAlgn="base"/>
            <a:r>
              <a:rPr sz="2000" b="0" dirty="0">
                <a:solidFill>
                  <a:srgbClr val="374151"/>
                </a:solidFill>
                <a:latin typeface="Aptos"/>
              </a:rPr>
              <a:t>Proposed Solution: Narmada Jal </a:t>
            </a:r>
            <a:r>
              <a:rPr sz="2000" b="0" dirty="0" err="1">
                <a:solidFill>
                  <a:srgbClr val="374151"/>
                </a:solidFill>
                <a:latin typeface="Aptos"/>
              </a:rPr>
              <a:t>Nyay</a:t>
            </a:r>
            <a:r>
              <a:rPr sz="2000" b="0" dirty="0">
                <a:solidFill>
                  <a:srgbClr val="374151"/>
                </a:solidFill>
                <a:latin typeface="Aptos"/>
              </a:rPr>
              <a:t> AI</a:t>
            </a:r>
            <a:br>
              <a:rPr sz="2000" dirty="0"/>
            </a:br>
            <a:br>
              <a:rPr sz="2000" dirty="0"/>
            </a:br>
            <a:r>
              <a:rPr sz="2000" b="0" dirty="0">
                <a:solidFill>
                  <a:srgbClr val="374151"/>
                </a:solidFill>
                <a:latin typeface="Aptos"/>
              </a:rPr>
              <a:t>Narmada Jal </a:t>
            </a:r>
            <a:r>
              <a:rPr sz="2000" b="0" dirty="0" err="1">
                <a:solidFill>
                  <a:srgbClr val="374151"/>
                </a:solidFill>
                <a:latin typeface="Aptos"/>
              </a:rPr>
              <a:t>Nyay</a:t>
            </a:r>
            <a:r>
              <a:rPr sz="2000" b="0" dirty="0">
                <a:solidFill>
                  <a:srgbClr val="374151"/>
                </a:solidFill>
                <a:latin typeface="Aptos"/>
              </a:rPr>
              <a:t> AI is a multi-agent water-management platform designed to improve equitable distribution of canal water across Gujarat’s head, middle and tail reaches.</a:t>
            </a:r>
            <a:br>
              <a:rPr sz="2000" dirty="0"/>
            </a:br>
            <a:br>
              <a:rPr sz="2000" dirty="0"/>
            </a:br>
            <a:r>
              <a:rPr sz="2000" b="0" dirty="0">
                <a:solidFill>
                  <a:srgbClr val="374151"/>
                </a:solidFill>
                <a:latin typeface="Aptos"/>
              </a:rPr>
              <a:t>The Canal Flow Monitoring Agent analyzes sensor or simulated flow data and identifies abnormal changes, shortages and possible leakage. The Equitable Distribution Scheduling Agent uses water availability, crop demand, land area, previous allocation and head-tail position to generate a fairness-aware irrigation schedule.</a:t>
            </a:r>
            <a:br>
              <a:rPr sz="2000" dirty="0"/>
            </a:br>
            <a:br>
              <a:rPr sz="2000" dirty="0"/>
            </a:br>
            <a:r>
              <a:rPr sz="2000" b="0" dirty="0">
                <a:solidFill>
                  <a:srgbClr val="374151"/>
                </a:solidFill>
                <a:latin typeface="Aptos"/>
              </a:rPr>
              <a:t>The Farmer Water Availability Alert Agent provides expected water arrival times, irrigation slots, quantity and delay notifications. The Dispute Detection &amp; Mediation Agent analyzes complaints together with allocation and sensor evidence and recommends fair resolutions. A centralized dashboard gives authorities real-time visibility into canal status, water equity, alerts and AI recommendations.</a:t>
            </a:r>
            <a:endParaRPr lang="en-US" sz="2000" b="1"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364119"/>
            <a:ext cx="7214616" cy="523220"/>
          </a:xfrm>
          <a:prstGeom prst="rect">
            <a:avLst/>
          </a:prstGeom>
          <a:noFill/>
        </p:spPr>
        <p:txBody>
          <a:bodyPr wrap="square" lIns="91440" tIns="45720" rIns="91440" bIns="45720" rtlCol="0" anchor="t">
            <a:spAutoFit/>
          </a:bodyPr>
          <a:lstStyle/>
          <a:p>
            <a:r>
              <a:rPr sz="2800" b="1">
                <a:solidFill>
                  <a:srgbClr val="374151"/>
                </a:solidFill>
                <a:latin typeface="Aptos"/>
              </a:rPr>
              <a:t>Proposed Solution :</a:t>
            </a:r>
            <a:endParaRPr lang="en-IN" sz="28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876886" y="572555"/>
            <a:ext cx="7123176" cy="523220"/>
          </a:xfrm>
          <a:prstGeom prst="rect">
            <a:avLst/>
          </a:prstGeom>
          <a:noFill/>
        </p:spPr>
        <p:txBody>
          <a:bodyPr wrap="square" lIns="91440" tIns="45720" rIns="91440" bIns="45720" rtlCol="0" anchor="t">
            <a:spAutoFit/>
          </a:bodyPr>
          <a:lstStyle/>
          <a:p>
            <a:r>
              <a:rPr sz="2800" b="1">
                <a:solidFill>
                  <a:srgbClr val="374151"/>
                </a:solidFill>
                <a:latin typeface="Aptos"/>
              </a:rPr>
              <a:t>Technology Used:</a:t>
            </a:r>
            <a:endParaRPr lang="en-IN" sz="28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588008"/>
            <a:ext cx="10515600" cy="2862322"/>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sz="2000" b="0" dirty="0">
                <a:solidFill>
                  <a:srgbClr val="374151"/>
                </a:solidFill>
                <a:latin typeface="Aptos"/>
              </a:rPr>
              <a:t>IBM Bob – AI-assisted development of the application.</a:t>
            </a:r>
            <a:br>
              <a:rPr dirty="0"/>
            </a:br>
            <a:r>
              <a:rPr sz="2000" b="0" dirty="0">
                <a:solidFill>
                  <a:srgbClr val="374151"/>
                </a:solidFill>
                <a:latin typeface="Aptos"/>
              </a:rPr>
              <a:t>IBM Granite – Natural-language understanding, reasoning, summarization and farmer-friendly explanations.</a:t>
            </a:r>
            <a:br>
              <a:rPr dirty="0"/>
            </a:br>
            <a:r>
              <a:rPr sz="2000" b="0" dirty="0">
                <a:solidFill>
                  <a:srgbClr val="374151"/>
                </a:solidFill>
                <a:latin typeface="Aptos"/>
              </a:rPr>
              <a:t>IBM Cloud – Deployment, APIs, storage and cloud infrastructure.</a:t>
            </a:r>
            <a:br>
              <a:rPr dirty="0"/>
            </a:br>
            <a:r>
              <a:rPr sz="2000" b="0" dirty="0">
                <a:solidFill>
                  <a:srgbClr val="374151"/>
                </a:solidFill>
                <a:latin typeface="Aptos"/>
              </a:rPr>
              <a:t>Python + </a:t>
            </a:r>
            <a:r>
              <a:rPr sz="2000" b="0" dirty="0" err="1">
                <a:solidFill>
                  <a:srgbClr val="374151"/>
                </a:solidFill>
                <a:latin typeface="Aptos"/>
              </a:rPr>
              <a:t>FastAPI</a:t>
            </a:r>
            <a:r>
              <a:rPr sz="2000" b="0" dirty="0">
                <a:solidFill>
                  <a:srgbClr val="374151"/>
                </a:solidFill>
                <a:latin typeface="Aptos"/>
              </a:rPr>
              <a:t> – Backend APIs, agent orchestration and business logic.</a:t>
            </a:r>
            <a:br>
              <a:rPr dirty="0"/>
            </a:br>
            <a:r>
              <a:rPr sz="2000" b="0" dirty="0">
                <a:solidFill>
                  <a:srgbClr val="374151"/>
                </a:solidFill>
                <a:latin typeface="Aptos"/>
              </a:rPr>
              <a:t>React + Vite – Responsive authority and farmer dashboards.</a:t>
            </a:r>
            <a:br>
              <a:rPr dirty="0"/>
            </a:br>
            <a:r>
              <a:rPr sz="2000" b="0" dirty="0">
                <a:solidFill>
                  <a:srgbClr val="374151"/>
                </a:solidFill>
                <a:latin typeface="Aptos"/>
              </a:rPr>
              <a:t>PostgreSQL / SQLite – Farmers, sensor readings, allocations, schedules and complaints.</a:t>
            </a:r>
            <a:br>
              <a:rPr dirty="0"/>
            </a:br>
            <a:r>
              <a:rPr sz="2000" b="0" dirty="0">
                <a:solidFill>
                  <a:srgbClr val="374151"/>
                </a:solidFill>
                <a:latin typeface="Aptos"/>
              </a:rPr>
              <a:t>Machine Learning – Flow prediction and canal anomaly detection.</a:t>
            </a:r>
            <a:br>
              <a:rPr dirty="0"/>
            </a:br>
            <a:r>
              <a:rPr sz="2000" b="0" dirty="0">
                <a:solidFill>
                  <a:srgbClr val="374151"/>
                </a:solidFill>
                <a:latin typeface="Aptos"/>
              </a:rPr>
              <a:t>Data Visualization – Flow, allocation, equity and shortage monitoring.</a:t>
            </a:r>
            <a:endParaRPr lang="en-US" sz="2000"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sz="2800" b="1">
                <a:solidFill>
                  <a:srgbClr val="374151"/>
                </a:solidFill>
                <a:latin typeface="Aptos"/>
              </a:rPr>
              <a:t>Agent Components Used :</a:t>
            </a:r>
            <a:endParaRPr lang="en-US" sz="2800" b="1" dirty="0"/>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632311"/>
          </a:xfrm>
          <a:prstGeom prst="rect">
            <a:avLst/>
          </a:prstGeom>
          <a:noFill/>
        </p:spPr>
        <p:txBody>
          <a:bodyPr wrap="square" lIns="91440" tIns="45720" rIns="91440" bIns="45720" rtlCol="0" anchor="t">
            <a:spAutoFit/>
          </a:bodyPr>
          <a:lstStyle/>
          <a:p>
            <a:r>
              <a:rPr sz="1800" b="0" dirty="0">
                <a:solidFill>
                  <a:srgbClr val="374151"/>
                </a:solidFill>
                <a:latin typeface="Aptos"/>
              </a:rPr>
              <a:t>1) Canal Sensor / Data Input – Receives flow rate, water level, gate status, rainfall and historical readings.</a:t>
            </a:r>
            <a:br>
              <a:rPr sz="1800" dirty="0"/>
            </a:br>
            <a:br>
              <a:rPr sz="1800" dirty="0"/>
            </a:br>
            <a:r>
              <a:rPr sz="1800" b="0" dirty="0">
                <a:solidFill>
                  <a:srgbClr val="374151"/>
                </a:solidFill>
                <a:latin typeface="Aptos"/>
              </a:rPr>
              <a:t>2) Canal Flow Monitoring Agent – Detects abnormal flow, shortage conditions and possible leakage.</a:t>
            </a:r>
            <a:br>
              <a:rPr sz="1800" dirty="0"/>
            </a:br>
            <a:br>
              <a:rPr sz="1800" dirty="0"/>
            </a:br>
            <a:r>
              <a:rPr sz="1800" b="0" dirty="0">
                <a:solidFill>
                  <a:srgbClr val="374151"/>
                </a:solidFill>
                <a:latin typeface="Aptos"/>
              </a:rPr>
              <a:t>3) Equitable Distribution Scheduling Agent – Calculates fair allocations and irrigation slots using water demand and previous distribution.</a:t>
            </a:r>
            <a:br>
              <a:rPr sz="1800" dirty="0"/>
            </a:br>
            <a:br>
              <a:rPr sz="1800" dirty="0"/>
            </a:br>
            <a:r>
              <a:rPr sz="1800" b="0" dirty="0">
                <a:solidFill>
                  <a:srgbClr val="374151"/>
                </a:solidFill>
                <a:latin typeface="Aptos"/>
              </a:rPr>
              <a:t>4) IBM Granite Agent Layer – Explains conditions, summarizes evidence, classifies complaints and generates farmer-friendly recommendations.</a:t>
            </a:r>
            <a:br>
              <a:rPr sz="1800" dirty="0"/>
            </a:br>
            <a:br>
              <a:rPr sz="1800" dirty="0"/>
            </a:br>
            <a:r>
              <a:rPr sz="1800" b="0" dirty="0">
                <a:solidFill>
                  <a:srgbClr val="374151"/>
                </a:solidFill>
                <a:latin typeface="Aptos"/>
              </a:rPr>
              <a:t>5) Farmer Alert Agent – Produces water-availability, delay and irrigation-slot notifications.</a:t>
            </a:r>
            <a:br>
              <a:rPr sz="1800" dirty="0"/>
            </a:br>
            <a:br>
              <a:rPr sz="1800" dirty="0"/>
            </a:br>
            <a:r>
              <a:rPr sz="1800" b="0" dirty="0">
                <a:solidFill>
                  <a:srgbClr val="374151"/>
                </a:solidFill>
                <a:latin typeface="Aptos"/>
              </a:rPr>
              <a:t>6) Dispute Detection &amp; Mediation Agent – Analyzes complaints and recommends transparent, human-approved resolutions.</a:t>
            </a:r>
            <a:br>
              <a:rPr sz="1800" dirty="0"/>
            </a:br>
            <a:br>
              <a:rPr sz="1800" dirty="0"/>
            </a:br>
            <a:r>
              <a:rPr sz="1800" b="0" dirty="0">
                <a:solidFill>
                  <a:srgbClr val="374151"/>
                </a:solidFill>
                <a:latin typeface="Aptos"/>
              </a:rPr>
              <a:t>7) Dashboard / Database Component – Stores operational data and presents equity, alerts, schedules and AI insights.</a:t>
            </a:r>
            <a:endParaRPr lang="en-US" sz="18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sz="2800" b="1">
                <a:solidFill>
                  <a:srgbClr val="374151"/>
                </a:solidFill>
                <a:latin typeface="Aptos"/>
              </a:rPr>
              <a:t>Agentic AI workflow :</a:t>
            </a:r>
            <a:endParaRPr lang="en-US" sz="2800" b="1" dirty="0"/>
          </a:p>
        </p:txBody>
      </p:sp>
      <p:sp>
        <p:nvSpPr>
          <p:cNvPr id="500" name="Box500"/>
          <p:cNvSpPr/>
          <p:nvPr/>
        </p:nvSpPr>
        <p:spPr>
          <a:xfrm>
            <a:off x="3535527" y="1143000"/>
            <a:ext cx="5120640" cy="457200"/>
          </a:xfrm>
          <a:prstGeom prst="roundRect">
            <a:avLst>
              <a:gd name="adj" fmla="val 12000"/>
            </a:avLst>
          </a:prstGeom>
          <a:solidFill>
            <a:srgbClr val="1F5C99"/>
          </a:solidFill>
          <a:ln>
            <a:solidFill>
              <a:srgbClr val="9AA5B1"/>
            </a:solidFill>
          </a:ln>
        </p:spPr>
        <p:txBody>
          <a:bodyPr wrap="square" lIns="91440" tIns="45720" rIns="91440" bIns="45720" anchor="ctr" anchorCtr="0">
            <a:noAutofit/>
          </a:bodyPr>
          <a:lstStyle/>
          <a:p>
            <a:pPr algn="ctr"/>
            <a:r>
              <a:rPr sz="1400" b="1">
                <a:solidFill>
                  <a:srgbClr val="FFFFFF"/>
                </a:solidFill>
                <a:latin typeface="Aptos"/>
              </a:rPr>
              <a:t>Canal Sensor / Data Input</a:t>
            </a:r>
          </a:p>
        </p:txBody>
      </p:sp>
      <p:sp>
        <p:nvSpPr>
          <p:cNvPr id="501" name="Arrow501"/>
          <p:cNvSpPr/>
          <p:nvPr/>
        </p:nvSpPr>
        <p:spPr>
          <a:xfrm>
            <a:off x="5958687" y="1600200"/>
            <a:ext cx="274320" cy="164592"/>
          </a:xfrm>
          <a:prstGeom prst="downArrow">
            <a:avLst/>
          </a:prstGeom>
          <a:solidFill>
            <a:srgbClr val="9AA5B1"/>
          </a:solidFill>
          <a:ln>
            <a:noFill/>
          </a:ln>
        </p:spPr>
        <p:txBody>
          <a:bodyPr/>
          <a:lstStyle/>
          <a:p>
            <a:endParaRPr lang="en-US"/>
          </a:p>
        </p:txBody>
      </p:sp>
      <p:sp>
        <p:nvSpPr>
          <p:cNvPr id="502" name="Box502"/>
          <p:cNvSpPr/>
          <p:nvPr/>
        </p:nvSpPr>
        <p:spPr>
          <a:xfrm>
            <a:off x="3535527" y="1764792"/>
            <a:ext cx="5120640" cy="457200"/>
          </a:xfrm>
          <a:prstGeom prst="roundRect">
            <a:avLst>
              <a:gd name="adj" fmla="val 12000"/>
            </a:avLst>
          </a:prstGeom>
          <a:solidFill>
            <a:srgbClr val="2E7D32"/>
          </a:solidFill>
          <a:ln>
            <a:solidFill>
              <a:srgbClr val="9AA5B1"/>
            </a:solidFill>
          </a:ln>
        </p:spPr>
        <p:txBody>
          <a:bodyPr wrap="square" lIns="91440" tIns="45720" rIns="91440" bIns="45720" anchor="ctr" anchorCtr="0">
            <a:noAutofit/>
          </a:bodyPr>
          <a:lstStyle/>
          <a:p>
            <a:pPr algn="ctr"/>
            <a:r>
              <a:rPr sz="1400" b="1">
                <a:solidFill>
                  <a:srgbClr val="FFFFFF"/>
                </a:solidFill>
                <a:latin typeface="Aptos"/>
              </a:rPr>
              <a:t>Canal Flow Monitoring Agent</a:t>
            </a:r>
          </a:p>
        </p:txBody>
      </p:sp>
      <p:sp>
        <p:nvSpPr>
          <p:cNvPr id="503" name="Arrow503"/>
          <p:cNvSpPr/>
          <p:nvPr/>
        </p:nvSpPr>
        <p:spPr>
          <a:xfrm>
            <a:off x="5958687" y="2221991"/>
            <a:ext cx="274320" cy="164592"/>
          </a:xfrm>
          <a:prstGeom prst="downArrow">
            <a:avLst/>
          </a:prstGeom>
          <a:solidFill>
            <a:srgbClr val="9AA5B1"/>
          </a:solidFill>
          <a:ln>
            <a:noFill/>
          </a:ln>
        </p:spPr>
        <p:txBody>
          <a:bodyPr/>
          <a:lstStyle/>
          <a:p>
            <a:endParaRPr lang="en-US"/>
          </a:p>
        </p:txBody>
      </p:sp>
      <p:sp>
        <p:nvSpPr>
          <p:cNvPr id="504" name="Box504"/>
          <p:cNvSpPr/>
          <p:nvPr/>
        </p:nvSpPr>
        <p:spPr>
          <a:xfrm>
            <a:off x="3535527" y="2386584"/>
            <a:ext cx="5120640" cy="457200"/>
          </a:xfrm>
          <a:prstGeom prst="roundRect">
            <a:avLst>
              <a:gd name="adj" fmla="val 12000"/>
            </a:avLst>
          </a:prstGeom>
          <a:solidFill>
            <a:srgbClr val="2E7D32"/>
          </a:solidFill>
          <a:ln>
            <a:solidFill>
              <a:srgbClr val="9AA5B1"/>
            </a:solidFill>
          </a:ln>
        </p:spPr>
        <p:txBody>
          <a:bodyPr wrap="square" lIns="91440" tIns="45720" rIns="91440" bIns="45720" anchor="ctr" anchorCtr="0">
            <a:noAutofit/>
          </a:bodyPr>
          <a:lstStyle/>
          <a:p>
            <a:pPr algn="ctr"/>
            <a:r>
              <a:rPr sz="1400" b="1">
                <a:solidFill>
                  <a:srgbClr val="FFFFFF"/>
                </a:solidFill>
                <a:latin typeface="Aptos"/>
              </a:rPr>
              <a:t>Shortage &amp; Anomaly Detection</a:t>
            </a:r>
          </a:p>
        </p:txBody>
      </p:sp>
      <p:sp>
        <p:nvSpPr>
          <p:cNvPr id="505" name="Arrow505"/>
          <p:cNvSpPr/>
          <p:nvPr/>
        </p:nvSpPr>
        <p:spPr>
          <a:xfrm>
            <a:off x="5958687" y="2843784"/>
            <a:ext cx="274320" cy="164592"/>
          </a:xfrm>
          <a:prstGeom prst="downArrow">
            <a:avLst/>
          </a:prstGeom>
          <a:solidFill>
            <a:srgbClr val="9AA5B1"/>
          </a:solidFill>
          <a:ln>
            <a:noFill/>
          </a:ln>
        </p:spPr>
        <p:txBody>
          <a:bodyPr/>
          <a:lstStyle/>
          <a:p>
            <a:endParaRPr lang="en-US"/>
          </a:p>
        </p:txBody>
      </p:sp>
      <p:sp>
        <p:nvSpPr>
          <p:cNvPr id="506" name="Box506"/>
          <p:cNvSpPr/>
          <p:nvPr/>
        </p:nvSpPr>
        <p:spPr>
          <a:xfrm>
            <a:off x="3535527" y="3008376"/>
            <a:ext cx="5120640" cy="457200"/>
          </a:xfrm>
          <a:prstGeom prst="roundRect">
            <a:avLst>
              <a:gd name="adj" fmla="val 12000"/>
            </a:avLst>
          </a:prstGeom>
          <a:solidFill>
            <a:srgbClr val="6A1B9A"/>
          </a:solidFill>
          <a:ln>
            <a:solidFill>
              <a:srgbClr val="9AA5B1"/>
            </a:solidFill>
          </a:ln>
        </p:spPr>
        <p:txBody>
          <a:bodyPr wrap="square" lIns="91440" tIns="45720" rIns="91440" bIns="45720" anchor="ctr" anchorCtr="0">
            <a:noAutofit/>
          </a:bodyPr>
          <a:lstStyle/>
          <a:p>
            <a:pPr algn="ctr"/>
            <a:r>
              <a:rPr sz="1400" b="1">
                <a:solidFill>
                  <a:srgbClr val="FFFFFF"/>
                </a:solidFill>
                <a:latin typeface="Aptos"/>
              </a:rPr>
              <a:t>Equity Analysis</a:t>
            </a:r>
          </a:p>
        </p:txBody>
      </p:sp>
      <p:sp>
        <p:nvSpPr>
          <p:cNvPr id="507" name="Arrow507"/>
          <p:cNvSpPr/>
          <p:nvPr/>
        </p:nvSpPr>
        <p:spPr>
          <a:xfrm>
            <a:off x="5958687" y="3465576"/>
            <a:ext cx="274320" cy="164592"/>
          </a:xfrm>
          <a:prstGeom prst="downArrow">
            <a:avLst/>
          </a:prstGeom>
          <a:solidFill>
            <a:srgbClr val="9AA5B1"/>
          </a:solidFill>
          <a:ln>
            <a:noFill/>
          </a:ln>
        </p:spPr>
        <p:txBody>
          <a:bodyPr/>
          <a:lstStyle/>
          <a:p>
            <a:endParaRPr lang="en-US"/>
          </a:p>
        </p:txBody>
      </p:sp>
      <p:sp>
        <p:nvSpPr>
          <p:cNvPr id="508" name="Box508"/>
          <p:cNvSpPr/>
          <p:nvPr/>
        </p:nvSpPr>
        <p:spPr>
          <a:xfrm>
            <a:off x="3535527" y="3630168"/>
            <a:ext cx="5120640" cy="457200"/>
          </a:xfrm>
          <a:prstGeom prst="roundRect">
            <a:avLst>
              <a:gd name="adj" fmla="val 12000"/>
            </a:avLst>
          </a:prstGeom>
          <a:solidFill>
            <a:srgbClr val="6A1B9A"/>
          </a:solidFill>
          <a:ln>
            <a:solidFill>
              <a:srgbClr val="9AA5B1"/>
            </a:solidFill>
          </a:ln>
        </p:spPr>
        <p:txBody>
          <a:bodyPr wrap="square" lIns="91440" tIns="45720" rIns="91440" bIns="45720" anchor="ctr" anchorCtr="0">
            <a:noAutofit/>
          </a:bodyPr>
          <a:lstStyle/>
          <a:p>
            <a:pPr algn="ctr"/>
            <a:r>
              <a:rPr sz="1400" b="1">
                <a:solidFill>
                  <a:srgbClr val="FFFFFF"/>
                </a:solidFill>
                <a:latin typeface="Aptos"/>
              </a:rPr>
              <a:t>Distribution Scheduling Agent</a:t>
            </a:r>
          </a:p>
        </p:txBody>
      </p:sp>
      <p:sp>
        <p:nvSpPr>
          <p:cNvPr id="509" name="Arrow509"/>
          <p:cNvSpPr/>
          <p:nvPr/>
        </p:nvSpPr>
        <p:spPr>
          <a:xfrm>
            <a:off x="5958687" y="4087368"/>
            <a:ext cx="274320" cy="164592"/>
          </a:xfrm>
          <a:prstGeom prst="downArrow">
            <a:avLst/>
          </a:prstGeom>
          <a:solidFill>
            <a:srgbClr val="9AA5B1"/>
          </a:solidFill>
          <a:ln>
            <a:noFill/>
          </a:ln>
        </p:spPr>
        <p:txBody>
          <a:bodyPr/>
          <a:lstStyle/>
          <a:p>
            <a:endParaRPr lang="en-US"/>
          </a:p>
        </p:txBody>
      </p:sp>
      <p:sp>
        <p:nvSpPr>
          <p:cNvPr id="510" name="Box510"/>
          <p:cNvSpPr/>
          <p:nvPr/>
        </p:nvSpPr>
        <p:spPr>
          <a:xfrm>
            <a:off x="3535527" y="4251959"/>
            <a:ext cx="5120640" cy="457200"/>
          </a:xfrm>
          <a:prstGeom prst="roundRect">
            <a:avLst>
              <a:gd name="adj" fmla="val 12000"/>
            </a:avLst>
          </a:prstGeom>
          <a:solidFill>
            <a:srgbClr val="B34700"/>
          </a:solidFill>
          <a:ln>
            <a:solidFill>
              <a:srgbClr val="9AA5B1"/>
            </a:solidFill>
          </a:ln>
        </p:spPr>
        <p:txBody>
          <a:bodyPr wrap="square" lIns="91440" tIns="45720" rIns="91440" bIns="45720" anchor="ctr" anchorCtr="0">
            <a:noAutofit/>
          </a:bodyPr>
          <a:lstStyle/>
          <a:p>
            <a:pPr algn="ctr"/>
            <a:r>
              <a:rPr sz="1400" b="1">
                <a:solidFill>
                  <a:srgbClr val="FFFFFF"/>
                </a:solidFill>
                <a:latin typeface="Aptos"/>
              </a:rPr>
              <a:t>IBM Granite – Explanation &amp; Recommendations</a:t>
            </a:r>
          </a:p>
        </p:txBody>
      </p:sp>
      <p:sp>
        <p:nvSpPr>
          <p:cNvPr id="511" name="Arrow511"/>
          <p:cNvSpPr/>
          <p:nvPr/>
        </p:nvSpPr>
        <p:spPr>
          <a:xfrm>
            <a:off x="5958687" y="4709159"/>
            <a:ext cx="274320" cy="164592"/>
          </a:xfrm>
          <a:prstGeom prst="downArrow">
            <a:avLst/>
          </a:prstGeom>
          <a:solidFill>
            <a:srgbClr val="9AA5B1"/>
          </a:solidFill>
          <a:ln>
            <a:noFill/>
          </a:ln>
        </p:spPr>
        <p:txBody>
          <a:bodyPr/>
          <a:lstStyle/>
          <a:p>
            <a:endParaRPr lang="en-US"/>
          </a:p>
        </p:txBody>
      </p:sp>
      <p:sp>
        <p:nvSpPr>
          <p:cNvPr id="512" name="Box512"/>
          <p:cNvSpPr/>
          <p:nvPr/>
        </p:nvSpPr>
        <p:spPr>
          <a:xfrm>
            <a:off x="3535527" y="4873752"/>
            <a:ext cx="5120640" cy="457200"/>
          </a:xfrm>
          <a:prstGeom prst="roundRect">
            <a:avLst>
              <a:gd name="adj" fmla="val 12000"/>
            </a:avLst>
          </a:prstGeom>
          <a:solidFill>
            <a:srgbClr val="0F766E"/>
          </a:solidFill>
          <a:ln>
            <a:solidFill>
              <a:srgbClr val="9AA5B1"/>
            </a:solidFill>
          </a:ln>
        </p:spPr>
        <p:txBody>
          <a:bodyPr wrap="square" lIns="91440" tIns="45720" rIns="91440" bIns="45720" anchor="ctr" anchorCtr="0">
            <a:noAutofit/>
          </a:bodyPr>
          <a:lstStyle/>
          <a:p>
            <a:pPr algn="ctr"/>
            <a:r>
              <a:rPr sz="1400" b="1">
                <a:solidFill>
                  <a:srgbClr val="FFFFFF"/>
                </a:solidFill>
                <a:latin typeface="Aptos"/>
              </a:rPr>
              <a:t>Farmer Water Availability Alerts</a:t>
            </a:r>
          </a:p>
        </p:txBody>
      </p:sp>
      <p:sp>
        <p:nvSpPr>
          <p:cNvPr id="513" name="Arrow513"/>
          <p:cNvSpPr/>
          <p:nvPr/>
        </p:nvSpPr>
        <p:spPr>
          <a:xfrm>
            <a:off x="5958687" y="5330952"/>
            <a:ext cx="274320" cy="164592"/>
          </a:xfrm>
          <a:prstGeom prst="downArrow">
            <a:avLst/>
          </a:prstGeom>
          <a:solidFill>
            <a:srgbClr val="9AA5B1"/>
          </a:solidFill>
          <a:ln>
            <a:noFill/>
          </a:ln>
        </p:spPr>
        <p:txBody>
          <a:bodyPr/>
          <a:lstStyle/>
          <a:p>
            <a:endParaRPr lang="en-US"/>
          </a:p>
        </p:txBody>
      </p:sp>
      <p:sp>
        <p:nvSpPr>
          <p:cNvPr id="514" name="Box514"/>
          <p:cNvSpPr/>
          <p:nvPr/>
        </p:nvSpPr>
        <p:spPr>
          <a:xfrm>
            <a:off x="3535527" y="5495544"/>
            <a:ext cx="5120640" cy="457200"/>
          </a:xfrm>
          <a:prstGeom prst="roundRect">
            <a:avLst>
              <a:gd name="adj" fmla="val 12000"/>
            </a:avLst>
          </a:prstGeom>
          <a:solidFill>
            <a:srgbClr val="0F766E"/>
          </a:solidFill>
          <a:ln>
            <a:solidFill>
              <a:srgbClr val="9AA5B1"/>
            </a:solidFill>
          </a:ln>
        </p:spPr>
        <p:txBody>
          <a:bodyPr wrap="square" lIns="91440" tIns="45720" rIns="91440" bIns="45720" anchor="ctr" anchorCtr="0">
            <a:noAutofit/>
          </a:bodyPr>
          <a:lstStyle/>
          <a:p>
            <a:pPr algn="ctr"/>
            <a:r>
              <a:rPr sz="1400" b="1">
                <a:solidFill>
                  <a:srgbClr val="FFFFFF"/>
                </a:solidFill>
                <a:latin typeface="Aptos"/>
              </a:rPr>
              <a:t>Complaint / Feedback</a:t>
            </a:r>
          </a:p>
        </p:txBody>
      </p:sp>
      <p:sp>
        <p:nvSpPr>
          <p:cNvPr id="515" name="Arrow515"/>
          <p:cNvSpPr/>
          <p:nvPr/>
        </p:nvSpPr>
        <p:spPr>
          <a:xfrm>
            <a:off x="5958687" y="5952744"/>
            <a:ext cx="274320" cy="164592"/>
          </a:xfrm>
          <a:prstGeom prst="downArrow">
            <a:avLst/>
          </a:prstGeom>
          <a:solidFill>
            <a:srgbClr val="9AA5B1"/>
          </a:solidFill>
          <a:ln>
            <a:noFill/>
          </a:ln>
        </p:spPr>
        <p:txBody>
          <a:bodyPr/>
          <a:lstStyle/>
          <a:p>
            <a:endParaRPr lang="en-US"/>
          </a:p>
        </p:txBody>
      </p:sp>
      <p:sp>
        <p:nvSpPr>
          <p:cNvPr id="516" name="Box516"/>
          <p:cNvSpPr/>
          <p:nvPr/>
        </p:nvSpPr>
        <p:spPr>
          <a:xfrm>
            <a:off x="3535527" y="6117336"/>
            <a:ext cx="5120640" cy="457200"/>
          </a:xfrm>
          <a:prstGeom prst="roundRect">
            <a:avLst>
              <a:gd name="adj" fmla="val 12000"/>
            </a:avLst>
          </a:prstGeom>
          <a:solidFill>
            <a:srgbClr val="B34700"/>
          </a:solidFill>
          <a:ln>
            <a:solidFill>
              <a:srgbClr val="9AA5B1"/>
            </a:solidFill>
          </a:ln>
        </p:spPr>
        <p:txBody>
          <a:bodyPr wrap="square" lIns="91440" tIns="45720" rIns="91440" bIns="45720" anchor="ctr" anchorCtr="0">
            <a:noAutofit/>
          </a:bodyPr>
          <a:lstStyle/>
          <a:p>
            <a:pPr algn="ctr"/>
            <a:r>
              <a:rPr sz="1400" b="1">
                <a:solidFill>
                  <a:srgbClr val="FFFFFF"/>
                </a:solidFill>
                <a:latin typeface="Aptos"/>
              </a:rPr>
              <a:t>Dispute Detection &amp; Mediation</a:t>
            </a: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sz="2800" b="1">
                <a:solidFill>
                  <a:srgbClr val="374151"/>
                </a:solidFill>
                <a:latin typeface="Aptos"/>
              </a:rPr>
              <a:t>Architecture blueprint :</a:t>
            </a:r>
            <a:endParaRPr lang="en-US" sz="2800">
              <a:solidFill>
                <a:schemeClr val="dk1"/>
              </a:solidFill>
            </a:endParaRPr>
          </a:p>
        </p:txBody>
      </p:sp>
      <p:sp>
        <p:nvSpPr>
          <p:cNvPr id="500" name="Box500"/>
          <p:cNvSpPr/>
          <p:nvPr/>
        </p:nvSpPr>
        <p:spPr>
          <a:xfrm>
            <a:off x="1981504" y="1051560"/>
            <a:ext cx="8229600" cy="502920"/>
          </a:xfrm>
          <a:prstGeom prst="roundRect">
            <a:avLst>
              <a:gd name="adj" fmla="val 12000"/>
            </a:avLst>
          </a:prstGeom>
          <a:solidFill>
            <a:srgbClr val="1F5C99"/>
          </a:solidFill>
          <a:ln>
            <a:solidFill>
              <a:srgbClr val="9AA5B1"/>
            </a:solidFill>
          </a:ln>
        </p:spPr>
        <p:txBody>
          <a:bodyPr wrap="square" lIns="91440" tIns="45720" rIns="91440" bIns="45720" anchor="ctr" anchorCtr="0">
            <a:noAutofit/>
          </a:bodyPr>
          <a:lstStyle/>
          <a:p>
            <a:pPr algn="ctr"/>
            <a:r>
              <a:rPr sz="1500" b="1">
                <a:solidFill>
                  <a:srgbClr val="FFFFFF"/>
                </a:solidFill>
                <a:latin typeface="Aptos"/>
              </a:rPr>
              <a:t>Frontend – React  |  Farmer Portal · Authority Dashboard</a:t>
            </a:r>
          </a:p>
        </p:txBody>
      </p:sp>
      <p:sp>
        <p:nvSpPr>
          <p:cNvPr id="501" name="Arrow501"/>
          <p:cNvSpPr/>
          <p:nvPr/>
        </p:nvSpPr>
        <p:spPr>
          <a:xfrm>
            <a:off x="5959144" y="1554480"/>
            <a:ext cx="274320" cy="164592"/>
          </a:xfrm>
          <a:prstGeom prst="downArrow">
            <a:avLst/>
          </a:prstGeom>
          <a:solidFill>
            <a:srgbClr val="9AA5B1"/>
          </a:solidFill>
          <a:ln>
            <a:noFill/>
          </a:ln>
        </p:spPr>
        <p:txBody>
          <a:bodyPr/>
          <a:lstStyle/>
          <a:p>
            <a:endParaRPr lang="en-US"/>
          </a:p>
        </p:txBody>
      </p:sp>
      <p:sp>
        <p:nvSpPr>
          <p:cNvPr id="502" name="Box502"/>
          <p:cNvSpPr/>
          <p:nvPr/>
        </p:nvSpPr>
        <p:spPr>
          <a:xfrm>
            <a:off x="1981504" y="1719072"/>
            <a:ext cx="8229600" cy="502920"/>
          </a:xfrm>
          <a:prstGeom prst="roundRect">
            <a:avLst>
              <a:gd name="adj" fmla="val 12000"/>
            </a:avLst>
          </a:prstGeom>
          <a:solidFill>
            <a:srgbClr val="2E7D32"/>
          </a:solidFill>
          <a:ln>
            <a:solidFill>
              <a:srgbClr val="9AA5B1"/>
            </a:solidFill>
          </a:ln>
        </p:spPr>
        <p:txBody>
          <a:bodyPr wrap="square" lIns="91440" tIns="45720" rIns="91440" bIns="45720" anchor="ctr" anchorCtr="0">
            <a:noAutofit/>
          </a:bodyPr>
          <a:lstStyle/>
          <a:p>
            <a:pPr algn="ctr"/>
            <a:r>
              <a:rPr sz="1400" b="1">
                <a:solidFill>
                  <a:srgbClr val="FFFFFF"/>
                </a:solidFill>
                <a:latin typeface="Aptos"/>
              </a:rPr>
              <a:t>FastAPI Backend  |  Authentication · REST APIs · Agent Orchestrator</a:t>
            </a:r>
          </a:p>
        </p:txBody>
      </p:sp>
      <p:sp>
        <p:nvSpPr>
          <p:cNvPr id="503" name="Arrow503"/>
          <p:cNvSpPr/>
          <p:nvPr/>
        </p:nvSpPr>
        <p:spPr>
          <a:xfrm>
            <a:off x="5959144" y="2221991"/>
            <a:ext cx="274320" cy="164592"/>
          </a:xfrm>
          <a:prstGeom prst="downArrow">
            <a:avLst/>
          </a:prstGeom>
          <a:solidFill>
            <a:srgbClr val="9AA5B1"/>
          </a:solidFill>
          <a:ln>
            <a:noFill/>
          </a:ln>
        </p:spPr>
        <p:txBody>
          <a:bodyPr/>
          <a:lstStyle/>
          <a:p>
            <a:endParaRPr lang="en-US"/>
          </a:p>
        </p:txBody>
      </p:sp>
      <p:sp>
        <p:nvSpPr>
          <p:cNvPr id="504" name="Box504"/>
          <p:cNvSpPr/>
          <p:nvPr/>
        </p:nvSpPr>
        <p:spPr>
          <a:xfrm>
            <a:off x="1981504" y="2386584"/>
            <a:ext cx="8229600" cy="365760"/>
          </a:xfrm>
          <a:prstGeom prst="roundRect">
            <a:avLst>
              <a:gd name="adj" fmla="val 12000"/>
            </a:avLst>
          </a:prstGeom>
          <a:solidFill>
            <a:srgbClr val="6A1B9A"/>
          </a:solidFill>
          <a:ln>
            <a:solidFill>
              <a:srgbClr val="9AA5B1"/>
            </a:solidFill>
          </a:ln>
        </p:spPr>
        <p:txBody>
          <a:bodyPr wrap="square" lIns="91440" tIns="45720" rIns="91440" bIns="45720" anchor="ctr" anchorCtr="0">
            <a:noAutofit/>
          </a:bodyPr>
          <a:lstStyle/>
          <a:p>
            <a:pPr algn="ctr"/>
            <a:r>
              <a:rPr sz="1500" b="1">
                <a:solidFill>
                  <a:srgbClr val="FFFFFF"/>
                </a:solidFill>
                <a:latin typeface="Aptos"/>
              </a:rPr>
              <a:t>Agentic AI Layer</a:t>
            </a:r>
          </a:p>
        </p:txBody>
      </p:sp>
      <p:sp>
        <p:nvSpPr>
          <p:cNvPr id="505" name="Box505"/>
          <p:cNvSpPr/>
          <p:nvPr/>
        </p:nvSpPr>
        <p:spPr>
          <a:xfrm>
            <a:off x="1984248" y="2752344"/>
            <a:ext cx="1828800" cy="594360"/>
          </a:xfrm>
          <a:prstGeom prst="roundRect">
            <a:avLst>
              <a:gd name="adj" fmla="val 12000"/>
            </a:avLst>
          </a:prstGeom>
          <a:solidFill>
            <a:srgbClr val="6A1B9A"/>
          </a:solidFill>
          <a:ln>
            <a:solidFill>
              <a:srgbClr val="9AA5B1"/>
            </a:solidFill>
          </a:ln>
        </p:spPr>
        <p:txBody>
          <a:bodyPr wrap="square" lIns="91440" tIns="45720" rIns="91440" bIns="45720" anchor="ctr" anchorCtr="0">
            <a:noAutofit/>
          </a:bodyPr>
          <a:lstStyle/>
          <a:p>
            <a:pPr algn="ctr"/>
            <a:r>
              <a:rPr sz="1200" b="1">
                <a:solidFill>
                  <a:srgbClr val="FFFFFF"/>
                </a:solidFill>
                <a:latin typeface="Aptos"/>
              </a:rPr>
              <a:t>Canal Flow</a:t>
            </a:r>
            <a:br/>
            <a:r>
              <a:rPr sz="1200" b="1">
                <a:solidFill>
                  <a:srgbClr val="FFFFFF"/>
                </a:solidFill>
                <a:latin typeface="Aptos"/>
              </a:rPr>
              <a:t>Monitoring Agent</a:t>
            </a:r>
          </a:p>
        </p:txBody>
      </p:sp>
      <p:sp>
        <p:nvSpPr>
          <p:cNvPr id="506" name="Box506"/>
          <p:cNvSpPr/>
          <p:nvPr/>
        </p:nvSpPr>
        <p:spPr>
          <a:xfrm>
            <a:off x="4069080" y="2752344"/>
            <a:ext cx="1828800" cy="594360"/>
          </a:xfrm>
          <a:prstGeom prst="roundRect">
            <a:avLst>
              <a:gd name="adj" fmla="val 12000"/>
            </a:avLst>
          </a:prstGeom>
          <a:solidFill>
            <a:srgbClr val="6A1B9A"/>
          </a:solidFill>
          <a:ln>
            <a:solidFill>
              <a:srgbClr val="9AA5B1"/>
            </a:solidFill>
          </a:ln>
        </p:spPr>
        <p:txBody>
          <a:bodyPr wrap="square" lIns="91440" tIns="45720" rIns="91440" bIns="45720" anchor="ctr" anchorCtr="0">
            <a:noAutofit/>
          </a:bodyPr>
          <a:lstStyle/>
          <a:p>
            <a:pPr algn="ctr"/>
            <a:r>
              <a:rPr sz="1200" b="1">
                <a:solidFill>
                  <a:srgbClr val="FFFFFF"/>
                </a:solidFill>
                <a:latin typeface="Aptos"/>
              </a:rPr>
              <a:t>Equitable Distribution</a:t>
            </a:r>
            <a:br/>
            <a:r>
              <a:rPr sz="1200" b="1">
                <a:solidFill>
                  <a:srgbClr val="FFFFFF"/>
                </a:solidFill>
                <a:latin typeface="Aptos"/>
              </a:rPr>
              <a:t>Scheduling Agent</a:t>
            </a:r>
          </a:p>
        </p:txBody>
      </p:sp>
      <p:sp>
        <p:nvSpPr>
          <p:cNvPr id="507" name="Box507"/>
          <p:cNvSpPr/>
          <p:nvPr/>
        </p:nvSpPr>
        <p:spPr>
          <a:xfrm>
            <a:off x="6163056" y="2752344"/>
            <a:ext cx="1828800" cy="594360"/>
          </a:xfrm>
          <a:prstGeom prst="roundRect">
            <a:avLst>
              <a:gd name="adj" fmla="val 12000"/>
            </a:avLst>
          </a:prstGeom>
          <a:solidFill>
            <a:srgbClr val="6A1B9A"/>
          </a:solidFill>
          <a:ln>
            <a:solidFill>
              <a:srgbClr val="9AA5B1"/>
            </a:solidFill>
          </a:ln>
        </p:spPr>
        <p:txBody>
          <a:bodyPr wrap="square" lIns="91440" tIns="45720" rIns="91440" bIns="45720" anchor="ctr" anchorCtr="0">
            <a:noAutofit/>
          </a:bodyPr>
          <a:lstStyle/>
          <a:p>
            <a:pPr algn="ctr"/>
            <a:r>
              <a:rPr sz="1200" b="1">
                <a:solidFill>
                  <a:srgbClr val="FFFFFF"/>
                </a:solidFill>
                <a:latin typeface="Aptos"/>
              </a:rPr>
              <a:t>Farmer Water Availability</a:t>
            </a:r>
            <a:br/>
            <a:r>
              <a:rPr sz="1200" b="1">
                <a:solidFill>
                  <a:srgbClr val="FFFFFF"/>
                </a:solidFill>
                <a:latin typeface="Aptos"/>
              </a:rPr>
              <a:t>Alert Agent</a:t>
            </a:r>
          </a:p>
        </p:txBody>
      </p:sp>
      <p:sp>
        <p:nvSpPr>
          <p:cNvPr id="508" name="Box508"/>
          <p:cNvSpPr/>
          <p:nvPr/>
        </p:nvSpPr>
        <p:spPr>
          <a:xfrm>
            <a:off x="8257031" y="2752344"/>
            <a:ext cx="1828800" cy="594360"/>
          </a:xfrm>
          <a:prstGeom prst="roundRect">
            <a:avLst>
              <a:gd name="adj" fmla="val 12000"/>
            </a:avLst>
          </a:prstGeom>
          <a:solidFill>
            <a:srgbClr val="6A1B9A"/>
          </a:solidFill>
          <a:ln>
            <a:solidFill>
              <a:srgbClr val="9AA5B1"/>
            </a:solidFill>
          </a:ln>
        </p:spPr>
        <p:txBody>
          <a:bodyPr wrap="square" lIns="91440" tIns="45720" rIns="91440" bIns="45720" anchor="ctr" anchorCtr="0">
            <a:noAutofit/>
          </a:bodyPr>
          <a:lstStyle/>
          <a:p>
            <a:pPr algn="ctr"/>
            <a:r>
              <a:rPr sz="1200" b="1">
                <a:solidFill>
                  <a:srgbClr val="FFFFFF"/>
                </a:solidFill>
                <a:latin typeface="Aptos"/>
              </a:rPr>
              <a:t>Dispute Detection &amp;</a:t>
            </a:r>
            <a:br/>
            <a:r>
              <a:rPr sz="1200" b="1">
                <a:solidFill>
                  <a:srgbClr val="FFFFFF"/>
                </a:solidFill>
                <a:latin typeface="Aptos"/>
              </a:rPr>
              <a:t>Mediation Agent</a:t>
            </a:r>
          </a:p>
        </p:txBody>
      </p:sp>
      <p:sp>
        <p:nvSpPr>
          <p:cNvPr id="509" name="Arrow509"/>
          <p:cNvSpPr/>
          <p:nvPr/>
        </p:nvSpPr>
        <p:spPr>
          <a:xfrm>
            <a:off x="5959144" y="3300984"/>
            <a:ext cx="274320" cy="164592"/>
          </a:xfrm>
          <a:prstGeom prst="downArrow">
            <a:avLst/>
          </a:prstGeom>
          <a:solidFill>
            <a:srgbClr val="9AA5B1"/>
          </a:solidFill>
          <a:ln>
            <a:noFill/>
          </a:ln>
        </p:spPr>
        <p:txBody>
          <a:bodyPr/>
          <a:lstStyle/>
          <a:p>
            <a:endParaRPr lang="en-US"/>
          </a:p>
        </p:txBody>
      </p:sp>
      <p:sp>
        <p:nvSpPr>
          <p:cNvPr id="510" name="Box510"/>
          <p:cNvSpPr/>
          <p:nvPr/>
        </p:nvSpPr>
        <p:spPr>
          <a:xfrm>
            <a:off x="1981504" y="3465576"/>
            <a:ext cx="8229600" cy="502920"/>
          </a:xfrm>
          <a:prstGeom prst="roundRect">
            <a:avLst>
              <a:gd name="adj" fmla="val 12000"/>
            </a:avLst>
          </a:prstGeom>
          <a:solidFill>
            <a:srgbClr val="B34700"/>
          </a:solidFill>
          <a:ln>
            <a:solidFill>
              <a:srgbClr val="9AA5B1"/>
            </a:solidFill>
          </a:ln>
        </p:spPr>
        <p:txBody>
          <a:bodyPr wrap="square" lIns="91440" tIns="45720" rIns="91440" bIns="45720" anchor="ctr" anchorCtr="0">
            <a:noAutofit/>
          </a:bodyPr>
          <a:lstStyle/>
          <a:p>
            <a:pPr algn="ctr"/>
            <a:r>
              <a:rPr sz="1400" b="1" dirty="0">
                <a:solidFill>
                  <a:srgbClr val="FFFFFF"/>
                </a:solidFill>
                <a:latin typeface="Aptos"/>
              </a:rPr>
              <a:t>IBM Granite – AI Reasoning, Summarization &amp; Explanations</a:t>
            </a:r>
          </a:p>
        </p:txBody>
      </p:sp>
      <p:sp>
        <p:nvSpPr>
          <p:cNvPr id="511" name="Arrow511"/>
          <p:cNvSpPr/>
          <p:nvPr/>
        </p:nvSpPr>
        <p:spPr>
          <a:xfrm>
            <a:off x="5959144" y="3968496"/>
            <a:ext cx="274320" cy="164592"/>
          </a:xfrm>
          <a:prstGeom prst="downArrow">
            <a:avLst/>
          </a:prstGeom>
          <a:solidFill>
            <a:srgbClr val="9AA5B1"/>
          </a:solidFill>
          <a:ln>
            <a:noFill/>
          </a:ln>
        </p:spPr>
        <p:txBody>
          <a:bodyPr/>
          <a:lstStyle/>
          <a:p>
            <a:endParaRPr lang="en-US"/>
          </a:p>
        </p:txBody>
      </p:sp>
      <p:sp>
        <p:nvSpPr>
          <p:cNvPr id="512" name="Box512"/>
          <p:cNvSpPr/>
          <p:nvPr/>
        </p:nvSpPr>
        <p:spPr>
          <a:xfrm>
            <a:off x="1981504" y="4133087"/>
            <a:ext cx="8229600" cy="502920"/>
          </a:xfrm>
          <a:prstGeom prst="roundRect">
            <a:avLst>
              <a:gd name="adj" fmla="val 12000"/>
            </a:avLst>
          </a:prstGeom>
          <a:solidFill>
            <a:srgbClr val="0F766E"/>
          </a:solidFill>
          <a:ln>
            <a:solidFill>
              <a:srgbClr val="9AA5B1"/>
            </a:solidFill>
          </a:ln>
        </p:spPr>
        <p:txBody>
          <a:bodyPr wrap="square" lIns="91440" tIns="45720" rIns="91440" bIns="45720" anchor="ctr" anchorCtr="0">
            <a:noAutofit/>
          </a:bodyPr>
          <a:lstStyle/>
          <a:p>
            <a:pPr algn="ctr"/>
            <a:r>
              <a:rPr sz="1400" b="1">
                <a:solidFill>
                  <a:srgbClr val="FFFFFF"/>
                </a:solidFill>
                <a:latin typeface="Aptos"/>
              </a:rPr>
              <a:t>Database  |  Farmers · Sensors · Allocations · Schedules · Complaints</a:t>
            </a:r>
          </a:p>
        </p:txBody>
      </p:sp>
      <p:sp>
        <p:nvSpPr>
          <p:cNvPr id="513" name="Arrow513"/>
          <p:cNvSpPr/>
          <p:nvPr/>
        </p:nvSpPr>
        <p:spPr>
          <a:xfrm>
            <a:off x="5959144" y="4636007"/>
            <a:ext cx="274320" cy="164592"/>
          </a:xfrm>
          <a:prstGeom prst="downArrow">
            <a:avLst/>
          </a:prstGeom>
          <a:solidFill>
            <a:srgbClr val="9AA5B1"/>
          </a:solidFill>
          <a:ln>
            <a:noFill/>
          </a:ln>
        </p:spPr>
        <p:txBody>
          <a:bodyPr/>
          <a:lstStyle/>
          <a:p>
            <a:endParaRPr lang="en-US"/>
          </a:p>
        </p:txBody>
      </p:sp>
      <p:sp>
        <p:nvSpPr>
          <p:cNvPr id="514" name="Box514"/>
          <p:cNvSpPr/>
          <p:nvPr/>
        </p:nvSpPr>
        <p:spPr>
          <a:xfrm>
            <a:off x="1981504" y="4800599"/>
            <a:ext cx="8229600" cy="502920"/>
          </a:xfrm>
          <a:prstGeom prst="roundRect">
            <a:avLst>
              <a:gd name="adj" fmla="val 12000"/>
            </a:avLst>
          </a:prstGeom>
          <a:solidFill>
            <a:srgbClr val="374151"/>
          </a:solidFill>
          <a:ln>
            <a:solidFill>
              <a:srgbClr val="9AA5B1"/>
            </a:solidFill>
          </a:ln>
        </p:spPr>
        <p:txBody>
          <a:bodyPr wrap="square" lIns="91440" tIns="45720" rIns="91440" bIns="45720" anchor="ctr" anchorCtr="0">
            <a:noAutofit/>
          </a:bodyPr>
          <a:lstStyle/>
          <a:p>
            <a:pPr algn="ctr"/>
            <a:r>
              <a:rPr sz="1400" b="1">
                <a:solidFill>
                  <a:srgbClr val="FFFFFF"/>
                </a:solidFill>
                <a:latin typeface="Aptos"/>
              </a:rPr>
              <a:t>IBM Cloud – Deployment &amp; Infrastructure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172095"/>
            <a:ext cx="9317736" cy="523220"/>
          </a:xfrm>
          <a:prstGeom prst="rect">
            <a:avLst/>
          </a:prstGeom>
          <a:noFill/>
        </p:spPr>
        <p:txBody>
          <a:bodyPr wrap="square" lIns="91440" tIns="45720" rIns="91440" bIns="45720" rtlCol="0" anchor="t">
            <a:spAutoFit/>
          </a:bodyPr>
          <a:lstStyle/>
          <a:p>
            <a:r>
              <a:rPr sz="2800" b="1" dirty="0">
                <a:solidFill>
                  <a:srgbClr val="374151"/>
                </a:solidFill>
                <a:latin typeface="Aptos"/>
              </a:rPr>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475254" y="809939"/>
            <a:ext cx="7406640" cy="6186309"/>
          </a:xfrm>
          <a:prstGeom prst="rect">
            <a:avLst/>
          </a:prstGeom>
          <a:noFill/>
        </p:spPr>
        <p:txBody>
          <a:bodyPr wrap="square" lIns="91440" tIns="45720" rIns="91440" bIns="45720" rtlCol="0" anchor="t">
            <a:spAutoFit/>
          </a:bodyPr>
          <a:lstStyle/>
          <a:p>
            <a:r>
              <a:rPr sz="1800" b="0" dirty="0">
                <a:solidFill>
                  <a:srgbClr val="374151"/>
                </a:solidFill>
                <a:latin typeface="Aptos"/>
              </a:rPr>
              <a:t>Role of Agentic AI in Narmada Jal </a:t>
            </a:r>
            <a:r>
              <a:rPr sz="1800" b="0" dirty="0" err="1">
                <a:solidFill>
                  <a:srgbClr val="374151"/>
                </a:solidFill>
                <a:latin typeface="Aptos"/>
              </a:rPr>
              <a:t>Nyay</a:t>
            </a:r>
            <a:r>
              <a:rPr sz="1800" b="0" dirty="0">
                <a:solidFill>
                  <a:srgbClr val="374151"/>
                </a:solidFill>
                <a:latin typeface="Aptos"/>
              </a:rPr>
              <a:t> AI:</a:t>
            </a:r>
            <a:br>
              <a:rPr sz="1800" dirty="0"/>
            </a:br>
            <a:br>
              <a:rPr sz="1800" dirty="0"/>
            </a:br>
            <a:r>
              <a:rPr sz="1800" b="0" dirty="0">
                <a:solidFill>
                  <a:srgbClr val="374151"/>
                </a:solidFill>
                <a:latin typeface="Aptos"/>
              </a:rPr>
              <a:t>Agentic AI enables the platform to operate as a coordinated water-management system rather than a simple monitoring dashboard. Multiple specialized agents collaborate to continuously observe canal conditions, evaluate equity and take the next appropriate action.</a:t>
            </a:r>
            <a:br>
              <a:rPr sz="1800" dirty="0"/>
            </a:br>
            <a:br>
              <a:rPr sz="1800" dirty="0"/>
            </a:br>
            <a:r>
              <a:rPr sz="1800" b="0" dirty="0">
                <a:solidFill>
                  <a:srgbClr val="374151"/>
                </a:solidFill>
                <a:latin typeface="Aptos"/>
              </a:rPr>
              <a:t>• Canal Flow Monitoring Agent detects abnormal flow and shortage conditions.</a:t>
            </a:r>
            <a:br>
              <a:rPr sz="1800" dirty="0"/>
            </a:br>
            <a:r>
              <a:rPr sz="1800" b="0" dirty="0">
                <a:solidFill>
                  <a:srgbClr val="374151"/>
                </a:solidFill>
                <a:latin typeface="Aptos"/>
              </a:rPr>
              <a:t>• Equitable Distribution Scheduling Agent recalculates water allocation and irrigation slots using fairness constraints.</a:t>
            </a:r>
            <a:br>
              <a:rPr sz="1800" dirty="0"/>
            </a:br>
            <a:r>
              <a:rPr sz="1800" b="0" dirty="0">
                <a:solidFill>
                  <a:srgbClr val="374151"/>
                </a:solidFill>
                <a:latin typeface="Aptos"/>
              </a:rPr>
              <a:t>• Farmer Water Availability Alert Agent converts system decisions into simple, timely farmer notifications.</a:t>
            </a:r>
            <a:br>
              <a:rPr sz="1800" dirty="0"/>
            </a:br>
            <a:r>
              <a:rPr sz="1800" b="0" dirty="0">
                <a:solidFill>
                  <a:srgbClr val="374151"/>
                </a:solidFill>
                <a:latin typeface="Aptos"/>
              </a:rPr>
              <a:t>• Dispute Detection &amp; Mediation Agent combines complaints, allocation history and sensor evidence to recommend fair resolutions.</a:t>
            </a:r>
            <a:br>
              <a:rPr sz="1800" dirty="0"/>
            </a:br>
            <a:r>
              <a:rPr sz="1800" b="0" dirty="0">
                <a:solidFill>
                  <a:srgbClr val="374151"/>
                </a:solidFill>
                <a:latin typeface="Aptos"/>
              </a:rPr>
              <a:t>• Irrigation Efficiency Dashboard Agent summarizes operational conditions and highlights priority actions.</a:t>
            </a:r>
            <a:br>
              <a:rPr sz="1800" dirty="0"/>
            </a:br>
            <a:br>
              <a:rPr sz="1800" dirty="0"/>
            </a:br>
            <a:r>
              <a:rPr sz="1800" b="0" dirty="0">
                <a:solidFill>
                  <a:srgbClr val="374151"/>
                </a:solidFill>
                <a:latin typeface="Aptos"/>
              </a:rPr>
              <a:t>IBM Granite provides language understanding, reasoning and explanations, while deterministic algorithms handle numerical allocation. Human authorities remain responsible for approving major operational actions.</a:t>
            </a:r>
          </a:p>
        </p:txBody>
      </p:sp>
      <p:sp>
        <p:nvSpPr>
          <p:cNvPr id="4" name="Rounded Rectangle 3"/>
          <p:cNvSpPr/>
          <p:nvPr/>
        </p:nvSpPr>
        <p:spPr>
          <a:xfrm>
            <a:off x="8366760" y="1188720"/>
            <a:ext cx="2743200" cy="914400"/>
          </a:xfrm>
          <a:prstGeom prst="roundRect">
            <a:avLst/>
          </a:prstGeom>
          <a:solidFill>
            <a:srgbClr val="1F5C99"/>
          </a:solidFill>
          <a:ln>
            <a:solidFill>
              <a:srgbClr val="9AA5B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Aptos"/>
              </a:rPr>
              <a:t>HEAD</a:t>
            </a:r>
            <a:br/>
            <a:r>
              <a:rPr sz="1700" b="1">
                <a:solidFill>
                  <a:srgbClr val="FFFFFF"/>
                </a:solidFill>
                <a:latin typeface="Aptos"/>
              </a:rPr>
              <a:t>REACH</a:t>
            </a:r>
          </a:p>
        </p:txBody>
      </p:sp>
      <p:sp>
        <p:nvSpPr>
          <p:cNvPr id="5" name="Rounded Rectangle 4"/>
          <p:cNvSpPr/>
          <p:nvPr/>
        </p:nvSpPr>
        <p:spPr>
          <a:xfrm>
            <a:off x="8366760" y="2606040"/>
            <a:ext cx="2743200" cy="914400"/>
          </a:xfrm>
          <a:prstGeom prst="roundRect">
            <a:avLst/>
          </a:prstGeom>
          <a:solidFill>
            <a:srgbClr val="6A1B9A"/>
          </a:solidFill>
          <a:ln>
            <a:solidFill>
              <a:srgbClr val="9AA5B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Aptos"/>
              </a:rPr>
              <a:t>MIDDLE</a:t>
            </a:r>
            <a:br/>
            <a:r>
              <a:rPr sz="1700" b="1">
                <a:solidFill>
                  <a:srgbClr val="FFFFFF"/>
                </a:solidFill>
                <a:latin typeface="Aptos"/>
              </a:rPr>
              <a:t>REACH</a:t>
            </a:r>
          </a:p>
        </p:txBody>
      </p:sp>
      <p:sp>
        <p:nvSpPr>
          <p:cNvPr id="6" name="Rounded Rectangle 5"/>
          <p:cNvSpPr/>
          <p:nvPr/>
        </p:nvSpPr>
        <p:spPr>
          <a:xfrm>
            <a:off x="8366760" y="4023360"/>
            <a:ext cx="2743200" cy="914400"/>
          </a:xfrm>
          <a:prstGeom prst="roundRect">
            <a:avLst/>
          </a:prstGeom>
          <a:solidFill>
            <a:srgbClr val="0F766E"/>
          </a:solidFill>
          <a:ln>
            <a:solidFill>
              <a:srgbClr val="9AA5B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Aptos"/>
              </a:rPr>
              <a:t>TAIL</a:t>
            </a:r>
            <a:br/>
            <a:r>
              <a:rPr sz="1700" b="1">
                <a:solidFill>
                  <a:srgbClr val="FFFFFF"/>
                </a:solidFill>
                <a:latin typeface="Aptos"/>
              </a:rPr>
              <a:t>REACH</a:t>
            </a:r>
          </a:p>
        </p:txBody>
      </p:sp>
      <p:sp>
        <p:nvSpPr>
          <p:cNvPr id="7" name="Down Arrow 6"/>
          <p:cNvSpPr/>
          <p:nvPr/>
        </p:nvSpPr>
        <p:spPr>
          <a:xfrm>
            <a:off x="9372600" y="2029968"/>
            <a:ext cx="731520" cy="411480"/>
          </a:xfrm>
          <a:prstGeom prst="downArrow">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Down Arrow 7"/>
          <p:cNvSpPr/>
          <p:nvPr/>
        </p:nvSpPr>
        <p:spPr>
          <a:xfrm>
            <a:off x="9372600" y="3447288"/>
            <a:ext cx="731520" cy="411480"/>
          </a:xfrm>
          <a:prstGeom prst="downArrow">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sz="2800" b="1">
                <a:solidFill>
                  <a:srgbClr val="374151"/>
                </a:solidFill>
                <a:latin typeface="Aptos"/>
              </a:rPr>
              <a:t>AI Decision Example :</a:t>
            </a:r>
            <a:endParaRPr lang="en-US" sz="2800" b="1"/>
          </a:p>
        </p:txBody>
      </p:sp>
      <p:sp>
        <p:nvSpPr>
          <p:cNvPr id="600" name="Box600"/>
          <p:cNvSpPr/>
          <p:nvPr/>
        </p:nvSpPr>
        <p:spPr>
          <a:xfrm>
            <a:off x="114240" y="2453592"/>
            <a:ext cx="5095875" cy="2857500"/>
          </a:xfrm>
          <a:prstGeom prst="roundRect">
            <a:avLst>
              <a:gd name="adj" fmla="val 12000"/>
            </a:avLst>
          </a:prstGeom>
          <a:solidFill>
            <a:srgbClr val="1F5C99"/>
          </a:solidFill>
          <a:ln>
            <a:solidFill>
              <a:srgbClr val="9AA5B1"/>
            </a:solidFill>
          </a:ln>
        </p:spPr>
        <p:txBody>
          <a:bodyPr wrap="square" lIns="91440" tIns="45720" rIns="91440" bIns="45720" anchor="ctr" anchorCtr="0">
            <a:noAutofit/>
          </a:bodyPr>
          <a:lstStyle/>
          <a:p>
            <a:pPr algn="ctr"/>
            <a:r>
              <a:rPr sz="1800" b="1" dirty="0">
                <a:solidFill>
                  <a:srgbClr val="FFFFFF"/>
                </a:solidFill>
                <a:latin typeface="Aptos"/>
              </a:rPr>
              <a:t>BEFORE AI DECISION</a:t>
            </a:r>
            <a:br>
              <a:rPr dirty="0"/>
            </a:br>
            <a:r>
              <a:rPr sz="1800" b="1" dirty="0">
                <a:solidFill>
                  <a:srgbClr val="FFFFFF"/>
                </a:solidFill>
                <a:latin typeface="Aptos"/>
              </a:rPr>
              <a:t>Canal flow: 100 units</a:t>
            </a:r>
            <a:br>
              <a:rPr dirty="0"/>
            </a:br>
            <a:r>
              <a:rPr sz="1800" b="1" dirty="0">
                <a:solidFill>
                  <a:srgbClr val="FFFFFF"/>
                </a:solidFill>
                <a:latin typeface="Aptos"/>
              </a:rPr>
              <a:t>Head: 50 | Middle: 30 | Tail: 20</a:t>
            </a:r>
            <a:br>
              <a:rPr dirty="0"/>
            </a:br>
            <a:r>
              <a:rPr sz="1800" b="1" dirty="0">
                <a:solidFill>
                  <a:srgbClr val="FFFFFF"/>
                </a:solidFill>
                <a:latin typeface="Aptos"/>
              </a:rPr>
              <a:t>Tail-end deficit detected</a:t>
            </a:r>
          </a:p>
        </p:txBody>
      </p:sp>
      <p:sp>
        <p:nvSpPr>
          <p:cNvPr id="601" name="Box601"/>
          <p:cNvSpPr/>
          <p:nvPr/>
        </p:nvSpPr>
        <p:spPr>
          <a:xfrm>
            <a:off x="6228427" y="2392230"/>
            <a:ext cx="5724525" cy="2857500"/>
          </a:xfrm>
          <a:prstGeom prst="roundRect">
            <a:avLst>
              <a:gd name="adj" fmla="val 12000"/>
            </a:avLst>
          </a:prstGeom>
          <a:solidFill>
            <a:srgbClr val="2E7D32"/>
          </a:solidFill>
          <a:ln>
            <a:solidFill>
              <a:srgbClr val="9AA5B1"/>
            </a:solidFill>
          </a:ln>
        </p:spPr>
        <p:txBody>
          <a:bodyPr wrap="square" lIns="91440" tIns="45720" rIns="91440" bIns="45720" anchor="ctr" anchorCtr="0">
            <a:noAutofit/>
          </a:bodyPr>
          <a:lstStyle/>
          <a:p>
            <a:pPr algn="ctr"/>
            <a:r>
              <a:rPr sz="1500" b="1">
                <a:solidFill>
                  <a:srgbClr val="FFFFFF"/>
                </a:solidFill>
                <a:latin typeface="Aptos"/>
              </a:rPr>
              <a:t>AFTER AI RECOMMENDATION</a:t>
            </a:r>
            <a:br/>
            <a:r>
              <a:rPr sz="1500" b="1">
                <a:solidFill>
                  <a:srgbClr val="FFFFFF"/>
                </a:solidFill>
                <a:latin typeface="Aptos"/>
              </a:rPr>
              <a:t>Fairness-aware reallocation</a:t>
            </a:r>
            <a:br/>
            <a:r>
              <a:rPr sz="1500" b="1">
                <a:solidFill>
                  <a:srgbClr val="FFFFFF"/>
                </a:solidFill>
                <a:latin typeface="Aptos"/>
              </a:rPr>
              <a:t>Head: 40 | Middle: 30 | Tail: 30</a:t>
            </a:r>
            <a:br/>
            <a:r>
              <a:rPr sz="1500" b="1">
                <a:solidFill>
                  <a:srgbClr val="FFFFFF"/>
                </a:solidFill>
                <a:latin typeface="Aptos"/>
              </a:rPr>
              <a:t>Next irrigation slots adjusted</a:t>
            </a:r>
            <a:br/>
            <a:br/>
            <a:r>
              <a:rPr sz="1500" b="1">
                <a:solidFill>
                  <a:srgbClr val="FFFFFF"/>
                </a:solidFill>
                <a:latin typeface="Aptos"/>
              </a:rPr>
              <a:t>Granite: “Tail-end farmers are prioritized because their actual receipt is below expected demand.”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sz="1800" b="1">
                <a:solidFill>
                  <a:srgbClr val="374151"/>
                </a:solidFill>
                <a:latin typeface="Aptos"/>
              </a:rPr>
              <a:t>Before AI</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sz="1800" b="1">
                <a:solidFill>
                  <a:srgbClr val="374151"/>
                </a:solidFill>
                <a:latin typeface="Aptos"/>
              </a:rPr>
              <a:t>After the AI Decision</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209140"/>
            <a:ext cx="7123176" cy="523220"/>
          </a:xfrm>
          <a:prstGeom prst="rect">
            <a:avLst/>
          </a:prstGeom>
          <a:noFill/>
        </p:spPr>
        <p:txBody>
          <a:bodyPr wrap="square" lIns="91440" tIns="45720" rIns="91440" bIns="45720" rtlCol="0" anchor="t">
            <a:spAutoFit/>
          </a:bodyPr>
          <a:lstStyle/>
          <a:p>
            <a:r>
              <a:rPr sz="2800" b="1">
                <a:solidFill>
                  <a:srgbClr val="374151"/>
                </a:solidFill>
                <a:latin typeface="Aptos"/>
              </a:rPr>
              <a:t>Novelty and Uniqueness:</a:t>
            </a:r>
            <a:endParaRPr lang="en-IN" sz="2800" b="1"/>
          </a:p>
        </p:txBody>
      </p:sp>
      <p:sp>
        <p:nvSpPr>
          <p:cNvPr id="3" name="TextBox 2">
            <a:extLst>
              <a:ext uri="{FF2B5EF4-FFF2-40B4-BE49-F238E27FC236}">
                <a16:creationId xmlns:a16="http://schemas.microsoft.com/office/drawing/2014/main" id="{ED65F54F-855A-0DB6-09A6-3212C5F7405B}"/>
              </a:ext>
            </a:extLst>
          </p:cNvPr>
          <p:cNvSpPr txBox="1"/>
          <p:nvPr/>
        </p:nvSpPr>
        <p:spPr>
          <a:xfrm>
            <a:off x="636563" y="732223"/>
            <a:ext cx="11301984" cy="5016758"/>
          </a:xfrm>
          <a:prstGeom prst="rect">
            <a:avLst/>
          </a:prstGeom>
          <a:noFill/>
        </p:spPr>
        <p:txBody>
          <a:bodyPr wrap="square" lIns="91440" tIns="45720" rIns="91440" bIns="45720" rtlCol="0" anchor="t">
            <a:spAutoFit/>
          </a:bodyPr>
          <a:lstStyle/>
          <a:p>
            <a:r>
              <a:rPr sz="2000" b="0" dirty="0">
                <a:solidFill>
                  <a:srgbClr val="374151"/>
                </a:solidFill>
                <a:latin typeface="Aptos"/>
              </a:rPr>
              <a:t>The proposed Narmada Jal </a:t>
            </a:r>
            <a:r>
              <a:rPr sz="2000" b="0" dirty="0" err="1">
                <a:solidFill>
                  <a:srgbClr val="374151"/>
                </a:solidFill>
                <a:latin typeface="Aptos"/>
              </a:rPr>
              <a:t>Nyay</a:t>
            </a:r>
            <a:r>
              <a:rPr sz="2000" b="0" dirty="0">
                <a:solidFill>
                  <a:srgbClr val="374151"/>
                </a:solidFill>
                <a:latin typeface="Aptos"/>
              </a:rPr>
              <a:t> AI stands out by combining Agentic AI, fairness-aware water scheduling and real-time farmer communication into one intelligent canal-management system.</a:t>
            </a:r>
            <a:br>
              <a:rPr sz="2000" dirty="0"/>
            </a:br>
            <a:br>
              <a:rPr sz="2000" dirty="0"/>
            </a:br>
            <a:r>
              <a:rPr sz="2000" b="0" dirty="0">
                <a:solidFill>
                  <a:srgbClr val="374151"/>
                </a:solidFill>
                <a:latin typeface="Aptos"/>
              </a:rPr>
              <a:t>• Multi-Agent Water Intelligence – Specialized agents collaborate instead of relying on a single chatbot.</a:t>
            </a:r>
            <a:br>
              <a:rPr sz="2000" dirty="0"/>
            </a:br>
            <a:r>
              <a:rPr sz="2000" b="0" dirty="0">
                <a:solidFill>
                  <a:srgbClr val="374151"/>
                </a:solidFill>
                <a:latin typeface="Aptos"/>
              </a:rPr>
              <a:t>• Head-Tail Equity Monitoring – Compares expected and actual water receipt across canal reaches.</a:t>
            </a:r>
            <a:br>
              <a:rPr sz="2000" dirty="0"/>
            </a:br>
            <a:r>
              <a:rPr sz="2000" b="0" dirty="0">
                <a:solidFill>
                  <a:srgbClr val="374151"/>
                </a:solidFill>
                <a:latin typeface="Aptos"/>
              </a:rPr>
              <a:t>• Fairness-Aware Scheduling – Uses previous allocation and crop demand to avoid repeated upstream advantage.</a:t>
            </a:r>
            <a:br>
              <a:rPr sz="2000" dirty="0"/>
            </a:br>
            <a:r>
              <a:rPr sz="2000" b="0" dirty="0">
                <a:solidFill>
                  <a:srgbClr val="374151"/>
                </a:solidFill>
                <a:latin typeface="Aptos"/>
              </a:rPr>
              <a:t>• Predictive Shortage Detection – Identifies unusual flow patterns before major distribution failures.</a:t>
            </a:r>
            <a:br>
              <a:rPr sz="2000" dirty="0"/>
            </a:br>
            <a:r>
              <a:rPr sz="2000" b="0" dirty="0">
                <a:solidFill>
                  <a:srgbClr val="374151"/>
                </a:solidFill>
                <a:latin typeface="Aptos"/>
              </a:rPr>
              <a:t>• Farmer-First Alerts – Communicates water quantity, arrival time, irrigation slot and delays.</a:t>
            </a:r>
            <a:br>
              <a:rPr sz="2000" dirty="0"/>
            </a:br>
            <a:r>
              <a:rPr sz="2000" b="0" dirty="0">
                <a:solidFill>
                  <a:srgbClr val="374151"/>
                </a:solidFill>
                <a:latin typeface="Aptos"/>
              </a:rPr>
              <a:t>• Evidence-Based Dispute Mediation – Combines complaints with sensor and allocation data.</a:t>
            </a:r>
            <a:br>
              <a:rPr sz="2000" dirty="0"/>
            </a:br>
            <a:r>
              <a:rPr sz="2000" b="0" dirty="0">
                <a:solidFill>
                  <a:srgbClr val="374151"/>
                </a:solidFill>
                <a:latin typeface="Aptos"/>
              </a:rPr>
              <a:t>• Human-in-the-Loop Governance – Critical operational decisions remain under authority approval.</a:t>
            </a:r>
            <a:br>
              <a:rPr sz="2000" dirty="0"/>
            </a:br>
            <a:r>
              <a:rPr sz="2000" b="0" dirty="0">
                <a:solidFill>
                  <a:srgbClr val="374151"/>
                </a:solidFill>
                <a:latin typeface="Aptos"/>
              </a:rPr>
              <a:t>• Explainable AI – IBM Granite converts complex outputs into understandable recommendations.</a:t>
            </a:r>
            <a:br>
              <a:rPr sz="2000" dirty="0"/>
            </a:br>
            <a:br>
              <a:rPr sz="2000" dirty="0"/>
            </a:br>
            <a:r>
              <a:rPr sz="2000" b="0" dirty="0">
                <a:solidFill>
                  <a:srgbClr val="374151"/>
                </a:solidFill>
                <a:latin typeface="Aptos"/>
              </a:rPr>
              <a:t>This makes the platform a proactive water-equity system rather than a static canal monitoring dashboard.</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767386" y="450037"/>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sz="2800" b="1">
                <a:solidFill>
                  <a:srgbClr val="374151"/>
                </a:solidFill>
                <a:latin typeface="Aptos"/>
              </a:rPr>
              <a:t>Git Hub Link:</a:t>
            </a:r>
            <a:endParaRPr lang="en-US" sz="2800" b="1"/>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endParaRPr>
          </a:p>
        </p:txBody>
      </p:sp>
      <p:sp>
        <p:nvSpPr>
          <p:cNvPr id="2" name="TextBox 1">
            <a:extLst>
              <a:ext uri="{FF2B5EF4-FFF2-40B4-BE49-F238E27FC236}">
                <a16:creationId xmlns:a16="http://schemas.microsoft.com/office/drawing/2014/main" id="{CC790DF9-FF5E-2E0E-8A70-54F6A5F9808F}"/>
              </a:ext>
            </a:extLst>
          </p:cNvPr>
          <p:cNvSpPr txBox="1"/>
          <p:nvPr/>
        </p:nvSpPr>
        <p:spPr>
          <a:xfrm>
            <a:off x="3283975" y="716982"/>
            <a:ext cx="4798141" cy="307777"/>
          </a:xfrm>
          <a:prstGeom prst="rect">
            <a:avLst/>
          </a:prstGeom>
          <a:noFill/>
        </p:spPr>
        <p:txBody>
          <a:bodyPr wrap="square" rtlCol="0">
            <a:spAutoFit/>
          </a:bodyPr>
          <a:lstStyle/>
          <a:p>
            <a:r>
              <a:rPr lang="en-IN" dirty="0">
                <a:hlinkClick r:id="rId3"/>
              </a:rPr>
              <a:t>techjay18/Narmada-Jal-</a:t>
            </a:r>
            <a:r>
              <a:rPr lang="en-IN" dirty="0" err="1">
                <a:hlinkClick r:id="rId3"/>
              </a:rPr>
              <a:t>Nyay</a:t>
            </a:r>
            <a:r>
              <a:rPr lang="en-IN" dirty="0">
                <a:hlinkClick r:id="rId3"/>
              </a:rPr>
              <a:t>-AI</a:t>
            </a:r>
            <a:endParaRPr lang="en-IN" dirty="0"/>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890478" y="256606"/>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sz="2800" b="1">
                <a:solidFill>
                  <a:srgbClr val="374151"/>
                </a:solidFill>
                <a:latin typeface="Aptos"/>
              </a:rPr>
              <a:t>Future Scope :</a:t>
            </a:r>
            <a:endParaRPr lang="en-US" sz="2800" b="1"/>
          </a:p>
        </p:txBody>
      </p:sp>
      <p:sp>
        <p:nvSpPr>
          <p:cNvPr id="279" name="Google Shape;279;p18">
            <a:extLst>
              <a:ext uri="{FF2B5EF4-FFF2-40B4-BE49-F238E27FC236}">
                <a16:creationId xmlns:a16="http://schemas.microsoft.com/office/drawing/2014/main" id="{EAFA16CB-0A72-5AC5-69A0-ABF4A752B43F}"/>
              </a:ext>
            </a:extLst>
          </p:cNvPr>
          <p:cNvSpPr/>
          <p:nvPr/>
        </p:nvSpPr>
        <p:spPr>
          <a:xfrm>
            <a:off x="890478" y="957946"/>
            <a:ext cx="9214580" cy="4277001"/>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600"/>
              </a:spcAft>
              <a:buClr>
                <a:srgbClr val="2B3541"/>
              </a:buClr>
              <a:buSzPts val="1400"/>
              <a:buFont typeface="Times New Roman"/>
              <a:buNone/>
            </a:pPr>
            <a:r>
              <a:rPr sz="2000" b="0" dirty="0">
                <a:solidFill>
                  <a:srgbClr val="374151"/>
                </a:solidFill>
                <a:latin typeface="Aptos"/>
              </a:rPr>
              <a:t>1. Real IoT Sensor Integration – Connect live canal flow, water-level and gate sensors.</a:t>
            </a:r>
            <a:br>
              <a:rPr sz="2000" dirty="0"/>
            </a:br>
            <a:r>
              <a:rPr sz="2000" b="0" dirty="0">
                <a:solidFill>
                  <a:srgbClr val="374151"/>
                </a:solidFill>
                <a:latin typeface="Aptos"/>
              </a:rPr>
              <a:t>2. Advanced Flow Forecasting – Incorporate rainfall, weather and historical canal patterns.</a:t>
            </a:r>
            <a:br>
              <a:rPr sz="2000" dirty="0"/>
            </a:br>
            <a:r>
              <a:rPr sz="2000" b="0" dirty="0">
                <a:solidFill>
                  <a:srgbClr val="374151"/>
                </a:solidFill>
                <a:latin typeface="Aptos"/>
              </a:rPr>
              <a:t>3. Government Water-System Integration – Connect with authorized irrigation infrastructure where permitted.</a:t>
            </a:r>
            <a:br>
              <a:rPr sz="2000" dirty="0"/>
            </a:br>
            <a:r>
              <a:rPr sz="2000" b="0" dirty="0">
                <a:solidFill>
                  <a:srgbClr val="374151"/>
                </a:solidFill>
                <a:latin typeface="Aptos"/>
              </a:rPr>
              <a:t>4. Gujarati Farmer Notifications – Add verified Gujarati voice/SMS/WhatsApp alerts.</a:t>
            </a:r>
            <a:br>
              <a:rPr sz="2000" dirty="0"/>
            </a:br>
            <a:r>
              <a:rPr sz="2000" b="0" dirty="0">
                <a:solidFill>
                  <a:srgbClr val="374151"/>
                </a:solidFill>
                <a:latin typeface="Aptos"/>
              </a:rPr>
              <a:t>5. Digital Gate Automation – Support controlled gate recommendations and authorized actuation.</a:t>
            </a:r>
            <a:br>
              <a:rPr sz="2000" dirty="0"/>
            </a:br>
            <a:r>
              <a:rPr sz="2000" b="0" dirty="0">
                <a:solidFill>
                  <a:srgbClr val="374151"/>
                </a:solidFill>
                <a:latin typeface="Aptos"/>
              </a:rPr>
              <a:t>6. Village-Level Water Analytics – Provide anonymized equity and irrigation-efficiency trends.</a:t>
            </a:r>
            <a:br>
              <a:rPr sz="2000" dirty="0"/>
            </a:br>
            <a:r>
              <a:rPr sz="2000" b="0" dirty="0">
                <a:solidFill>
                  <a:srgbClr val="374151"/>
                </a:solidFill>
                <a:latin typeface="Aptos"/>
              </a:rPr>
              <a:t>7. Multi-Canal Expansion – Extend the framework to other irrigation systems</a:t>
            </a:r>
            <a:r>
              <a:rPr sz="1600" b="0" dirty="0">
                <a:solidFill>
                  <a:srgbClr val="374151"/>
                </a:solidFill>
                <a:latin typeface="Aptos"/>
              </a:rPr>
              <a:t>.</a:t>
            </a:r>
            <a:endParaRPr lang="en-US" sz="2000" dirty="0">
              <a:solidFill>
                <a:srgbClr val="2B3541"/>
              </a:solidFill>
              <a:ea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sz="2800" b="1">
                <a:solidFill>
                  <a:srgbClr val="374151"/>
                </a:solidFill>
                <a:latin typeface="Aptos"/>
              </a:rPr>
              <a:t>Certificates Earned:</a:t>
            </a:r>
            <a:endParaRPr lang="en-US" sz="2800"/>
          </a:p>
        </p:txBody>
      </p:sp>
      <p:sp>
        <p:nvSpPr>
          <p:cNvPr id="6" name="Rectangle 5"/>
          <p:cNvSpPr/>
          <p:nvPr/>
        </p:nvSpPr>
        <p:spPr>
          <a:xfrm>
            <a:off x="1591056" y="960120"/>
            <a:ext cx="9363456" cy="5751576"/>
          </a:xfrm>
          <a:prstGeom prst="rect">
            <a:avLst/>
          </a:prstGeom>
          <a:noFill/>
          <a:ln>
            <a:solidFill>
              <a:srgbClr val="9AA5B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0" dirty="0">
              <a:solidFill>
                <a:srgbClr val="374151"/>
              </a:solidFill>
              <a:latin typeface="Aptos"/>
            </a:endParaRPr>
          </a:p>
        </p:txBody>
      </p:sp>
      <p:sp>
        <p:nvSpPr>
          <p:cNvPr id="3" name="TextBox 2">
            <a:extLst>
              <a:ext uri="{FF2B5EF4-FFF2-40B4-BE49-F238E27FC236}">
                <a16:creationId xmlns:a16="http://schemas.microsoft.com/office/drawing/2014/main" id="{DEF18652-B302-C075-CB54-51122AC14AF5}"/>
              </a:ext>
            </a:extLst>
          </p:cNvPr>
          <p:cNvSpPr txBox="1"/>
          <p:nvPr/>
        </p:nvSpPr>
        <p:spPr>
          <a:xfrm>
            <a:off x="5673213" y="3864077"/>
            <a:ext cx="184731" cy="307777"/>
          </a:xfrm>
          <a:prstGeom prst="rect">
            <a:avLst/>
          </a:prstGeom>
          <a:noFill/>
        </p:spPr>
        <p:txBody>
          <a:bodyPr wrap="none" rtlCol="0">
            <a:spAutoFit/>
          </a:bodyPr>
          <a:lstStyle/>
          <a:p>
            <a:endParaRPr lang="en-IN" dirty="0"/>
          </a:p>
        </p:txBody>
      </p:sp>
      <p:pic>
        <p:nvPicPr>
          <p:cNvPr id="9" name="Picture 8">
            <a:extLst>
              <a:ext uri="{FF2B5EF4-FFF2-40B4-BE49-F238E27FC236}">
                <a16:creationId xmlns:a16="http://schemas.microsoft.com/office/drawing/2014/main" id="{1A7A452C-42ED-E189-0C5C-ACC60DE21B09}"/>
              </a:ext>
            </a:extLst>
          </p:cNvPr>
          <p:cNvPicPr>
            <a:picLocks noChangeAspect="1"/>
          </p:cNvPicPr>
          <p:nvPr/>
        </p:nvPicPr>
        <p:blipFill>
          <a:blip r:embed="rId2"/>
          <a:stretch>
            <a:fillRect/>
          </a:stretch>
        </p:blipFill>
        <p:spPr>
          <a:xfrm>
            <a:off x="1408364" y="960120"/>
            <a:ext cx="9728664" cy="5779745"/>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D7B1F-4208-4241-A262-DDB6E987470E}"/>
              </a:ext>
            </a:extLst>
          </p:cNvPr>
          <p:cNvSpPr>
            <a:spLocks noGrp="1"/>
          </p:cNvSpPr>
          <p:nvPr>
            <p:ph type="title"/>
          </p:nvPr>
        </p:nvSpPr>
        <p:spPr>
          <a:xfrm>
            <a:off x="624084" y="-88296"/>
            <a:ext cx="10515600" cy="1325563"/>
          </a:xfrm>
        </p:spPr>
        <p:txBody>
          <a:bodyPr wrap="square">
            <a:normAutofit/>
          </a:bodyPr>
          <a:lstStyle/>
          <a:p>
            <a:r>
              <a:rPr sz="2800" b="1">
                <a:solidFill>
                  <a:srgbClr val="374151"/>
                </a:solidFill>
                <a:latin typeface="Aptos"/>
              </a:rPr>
              <a:t>Certificate Earned:</a:t>
            </a:r>
          </a:p>
        </p:txBody>
      </p:sp>
      <p:sp>
        <p:nvSpPr>
          <p:cNvPr id="3" name="Rectangle 2"/>
          <p:cNvSpPr/>
          <p:nvPr/>
        </p:nvSpPr>
        <p:spPr>
          <a:xfrm>
            <a:off x="2157984" y="950976"/>
            <a:ext cx="7452360" cy="5660136"/>
          </a:xfrm>
          <a:prstGeom prst="rect">
            <a:avLst/>
          </a:prstGeom>
          <a:noFill/>
          <a:ln>
            <a:solidFill>
              <a:srgbClr val="9AA5B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0" dirty="0">
              <a:solidFill>
                <a:srgbClr val="374151"/>
              </a:solidFill>
              <a:latin typeface="Aptos"/>
            </a:endParaRPr>
          </a:p>
        </p:txBody>
      </p:sp>
      <p:pic>
        <p:nvPicPr>
          <p:cNvPr id="7" name="Picture 6">
            <a:extLst>
              <a:ext uri="{FF2B5EF4-FFF2-40B4-BE49-F238E27FC236}">
                <a16:creationId xmlns:a16="http://schemas.microsoft.com/office/drawing/2014/main" id="{1D7691DA-D67F-26FC-E018-B3548CE9A083}"/>
              </a:ext>
            </a:extLst>
          </p:cNvPr>
          <p:cNvPicPr>
            <a:picLocks noChangeAspect="1"/>
          </p:cNvPicPr>
          <p:nvPr/>
        </p:nvPicPr>
        <p:blipFill>
          <a:blip r:embed="rId2"/>
          <a:stretch>
            <a:fillRect/>
          </a:stretch>
        </p:blipFill>
        <p:spPr>
          <a:xfrm>
            <a:off x="1683113" y="847855"/>
            <a:ext cx="9456571" cy="5866377"/>
          </a:xfrm>
          <a:prstGeom prst="rect">
            <a:avLst/>
          </a:prstGeom>
        </p:spPr>
      </p:pic>
    </p:spTree>
    <p:extLst>
      <p:ext uri="{BB962C8B-B14F-4D97-AF65-F5344CB8AC3E}">
        <p14:creationId xmlns:p14="http://schemas.microsoft.com/office/powerpoint/2010/main" val="566655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2" name="TextBox 1">
            <a:extLst>
              <a:ext uri="{FF2B5EF4-FFF2-40B4-BE49-F238E27FC236}">
                <a16:creationId xmlns:a16="http://schemas.microsoft.com/office/drawing/2014/main" id="{ABDF2395-A506-0736-716A-97622A604F37}"/>
              </a:ext>
            </a:extLst>
          </p:cNvPr>
          <p:cNvSpPr txBox="1"/>
          <p:nvPr/>
        </p:nvSpPr>
        <p:spPr>
          <a:xfrm>
            <a:off x="3589587" y="2966132"/>
            <a:ext cx="478359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sz="5400" b="1">
                <a:solidFill>
                  <a:srgbClr val="374151"/>
                </a:solidFill>
                <a:latin typeface="Aptos"/>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237</TotalTime>
  <Words>1288</Words>
  <Application>Microsoft Office PowerPoint</Application>
  <PresentationFormat>Widescreen</PresentationFormat>
  <Paragraphs>62</Paragraphs>
  <Slides>16</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Times New Roman</vt:lpstr>
      <vt:lpstr>Office Theme</vt:lpstr>
      <vt:lpstr>IBM University Engagement Project Submission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Certificate Earned: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jaydesai18825@gmail.com</cp:lastModifiedBy>
  <cp:revision>194</cp:revision>
  <dcterms:created xsi:type="dcterms:W3CDTF">2025-07-08T05:06:56Z</dcterms:created>
  <dcterms:modified xsi:type="dcterms:W3CDTF">2026-08-15T10:26:51Z</dcterms:modified>
</cp:coreProperties>
</file>